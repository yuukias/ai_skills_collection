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700" b="1">
                <a:solidFill>
                  <a:srgbClr val="171C26"/>
                </a:solidFill>
                <a:latin typeface="Aptos"/>
              </a:rPr>
              <a:t>Cluster-robust variance centers uncertainty at the group level</a:t>
            </a:r>
          </a:p>
        </p:txBody>
      </p:sp>
      <p:pic>
        <p:nvPicPr>
          <p:cNvPr id="3" name="Picture 2" descr="slide2_sandw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88" y="2416568"/>
            <a:ext cx="6339681" cy="859002"/>
          </a:xfrm>
          <a:prstGeom prst="rect">
            <a:avLst/>
          </a:prstGeom>
        </p:spPr>
      </p:pic>
      <p:sp>
        <p:nvSpPr>
          <p:cNvPr id="4" name="Left Brace 3"/>
          <p:cNvSpPr/>
          <p:nvPr/>
        </p:nvSpPr>
        <p:spPr>
          <a:xfrm>
            <a:off x="4735254" y="3253435"/>
            <a:ext cx="2218888" cy="351815"/>
          </a:xfrm>
          <a:prstGeom prst="leftBrace">
            <a:avLst/>
          </a:prstGeom>
          <a:noFill/>
          <a:ln w="31750">
            <a:solidFill>
              <a:srgbClr val="AE5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58851" y="3909059"/>
            <a:ext cx="3169840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0">
                <a:solidFill>
                  <a:srgbClr val="171C26"/>
                </a:solidFill>
                <a:latin typeface="Aptos"/>
              </a:rPr>
              <a:t>Middle term aggregates score contributions by center.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309360" y="3611880"/>
            <a:ext cx="1249491" cy="224027"/>
          </a:xfrm>
          <a:prstGeom prst="line">
            <a:avLst/>
          </a:prstGeom>
          <a:ln w="25400">
            <a:solidFill>
              <a:srgbClr val="0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Synthetic clustered-data fixture; design profile is deck-wide, geometry remains page-local.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700" b="1">
                <a:solidFill>
                  <a:srgbClr val="171C26"/>
                </a:solidFill>
                <a:latin typeface="Aptos"/>
              </a:rPr>
              <a:t>Simulation varies clustering before interval evaluation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5335" y="3429000"/>
            <a:ext cx="10241024" cy="0"/>
          </a:xfrm>
          <a:prstGeom prst="line">
            <a:avLst/>
          </a:prstGeom>
          <a:ln w="31750">
            <a:solidFill>
              <a:srgbClr val="0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99436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35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71C26"/>
                </a:solidFill>
                <a:latin typeface="Aptos"/>
              </a:rPr>
              <a:t>DGP knobs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9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ICC, centers, imbalance</a:t>
            </a:r>
          </a:p>
        </p:txBody>
      </p:sp>
      <p:sp>
        <p:nvSpPr>
          <p:cNvPr id="7" name="Oval 6"/>
          <p:cNvSpPr/>
          <p:nvPr/>
        </p:nvSpPr>
        <p:spPr>
          <a:xfrm>
            <a:off x="4681609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8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71C26"/>
                </a:solidFill>
                <a:latin typeface="Aptos"/>
              </a:rPr>
              <a:t>Clustered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5042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same estimand</a:t>
            </a:r>
          </a:p>
        </p:txBody>
      </p:sp>
      <p:sp>
        <p:nvSpPr>
          <p:cNvPr id="10" name="Oval 9"/>
          <p:cNvSpPr/>
          <p:nvPr/>
        </p:nvSpPr>
        <p:spPr>
          <a:xfrm>
            <a:off x="7363782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9681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71C26"/>
                </a:solidFill>
                <a:latin typeface="Aptos"/>
              </a:rPr>
              <a:t>Interval procedures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215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naive vs CR</a:t>
            </a:r>
          </a:p>
        </p:txBody>
      </p:sp>
      <p:sp>
        <p:nvSpPr>
          <p:cNvPr id="13" name="Oval 12"/>
          <p:cNvSpPr/>
          <p:nvPr/>
        </p:nvSpPr>
        <p:spPr>
          <a:xfrm>
            <a:off x="10045955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1854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71C26"/>
                </a:solidFill>
                <a:latin typeface="Aptos"/>
              </a:rPr>
              <a:t>Coverage / width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9388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endpoint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DGP knobs feed generated samples and interval procedures.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700" b="1">
                <a:solidFill>
                  <a:srgbClr val="171C26"/>
                </a:solidFill>
                <a:latin typeface="Aptos"/>
              </a:rPr>
              <a:t>Cluster-robust intervals recover coverage, but small-G remains stressed</a:t>
            </a:r>
          </a:p>
        </p:txBody>
      </p:sp>
      <p:pic>
        <p:nvPicPr>
          <p:cNvPr id="3" name="Picture 2" descr="coverage_by_i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747" y="1371600"/>
            <a:ext cx="8409867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754" y="5349240"/>
            <a:ext cx="8534186" cy="4800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0">
                <a:solidFill>
                  <a:srgbClr val="171C26"/>
                </a:solidFill>
                <a:latin typeface="Aptos"/>
              </a:rPr>
              <a:t>Coverage improves after center-level aggregation, with visible stress at low center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Deterministic simulation; nominal 0.95 reference line shown in the plotted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700" b="1">
                <a:solidFill>
                  <a:srgbClr val="171C26"/>
                </a:solidFill>
                <a:latin typeface="Aptos"/>
              </a:rPr>
              <a:t>Small center counts remain anti-conservative</a:t>
            </a:r>
          </a:p>
        </p:txBody>
      </p:sp>
      <p:pic>
        <p:nvPicPr>
          <p:cNvPr id="3" name="Picture 2" descr="small_g_negativ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88" y="1605156"/>
            <a:ext cx="8899937" cy="39220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339" y="5349240"/>
            <a:ext cx="8168435" cy="4800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0">
                <a:solidFill>
                  <a:srgbClr val="171C26"/>
                </a:solidFill>
                <a:latin typeface="Aptos"/>
              </a:rPr>
              <a:t>The failure region is the small-G corner; the next experiment should target finite-sample correction.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Negative result motivates CR2 or wild cluster bootstrap as the next discriminating experiment.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