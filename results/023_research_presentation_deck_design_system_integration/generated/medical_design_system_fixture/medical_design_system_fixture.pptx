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460" y="377190"/>
            <a:ext cx="10241023" cy="72009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r>
              <a:rPr sz="2700" b="1">
                <a:solidFill>
                  <a:srgbClr val="171C26"/>
                </a:solidFill>
                <a:latin typeface="Aptos"/>
              </a:rPr>
              <a:t>Overlay errors localize the small-lesion failure mode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19169" y="1165860"/>
            <a:ext cx="3803808" cy="24003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r>
              <a:rPr sz="1000" b="1">
                <a:solidFill>
                  <a:srgbClr val="586274"/>
                </a:solidFill>
                <a:latin typeface="Aptos"/>
              </a:rPr>
              <a:t>GT / prediction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219169" y="1257757"/>
            <a:ext cx="3803808" cy="4135374"/>
          </a:xfrm>
          <a:prstGeom prst="rect">
            <a:avLst/>
          </a:prstGeom>
          <a:noFill/>
          <a:ln w="10160">
            <a:solidFill>
              <a:srgbClr val="BCC4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lide1_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169" y="1423539"/>
            <a:ext cx="3803808" cy="38038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64121" y="1165860"/>
            <a:ext cx="2852856" cy="24003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r>
              <a:rPr sz="1000" b="1">
                <a:solidFill>
                  <a:srgbClr val="586274"/>
                </a:solidFill>
                <a:latin typeface="Aptos"/>
              </a:rPr>
              <a:t>Error map</a:t>
            </a:r>
          </a:p>
        </p:txBody>
      </p:sp>
      <p:sp>
        <p:nvSpPr>
          <p:cNvPr id="7" name="Rectangle 6"/>
          <p:cNvSpPr/>
          <p:nvPr/>
        </p:nvSpPr>
        <p:spPr>
          <a:xfrm>
            <a:off x="6164121" y="1395603"/>
            <a:ext cx="2852856" cy="2113635"/>
          </a:xfrm>
          <a:prstGeom prst="rect">
            <a:avLst/>
          </a:prstGeom>
          <a:noFill/>
          <a:ln w="10160">
            <a:solidFill>
              <a:srgbClr val="BCC4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ailure_err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3731" y="1395603"/>
            <a:ext cx="2113635" cy="2113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73930" y="3693033"/>
            <a:ext cx="4564570" cy="82707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r>
              <a:rPr sz="1300" b="0">
                <a:solidFill>
                  <a:srgbClr val="171C26"/>
                </a:solidFill>
                <a:latin typeface="Aptos"/>
              </a:rPr>
              <a:t>The miss is spatially small but changes lesion-level recall.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73930" y="4795570"/>
            <a:ext cx="128016" cy="128016"/>
          </a:xfrm>
          <a:prstGeom prst="rect">
            <a:avLst/>
          </a:prstGeom>
          <a:solidFill>
            <a:srgbClr val="2D8C53"/>
          </a:solidFill>
          <a:ln>
            <a:solidFill>
              <a:srgbClr val="2D8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56806" y="4768138"/>
            <a:ext cx="1584920" cy="64328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r>
              <a:rPr sz="1000" b="0">
                <a:solidFill>
                  <a:srgbClr val="586274"/>
                </a:solidFill>
                <a:latin typeface="Aptos"/>
              </a:rPr>
              <a:t>overlap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91250" y="4795570"/>
            <a:ext cx="128016" cy="128016"/>
          </a:xfrm>
          <a:prstGeom prst="rect">
            <a:avLst/>
          </a:prstGeom>
          <a:solidFill>
            <a:srgbClr val="CA4A4A"/>
          </a:solidFill>
          <a:ln>
            <a:solidFill>
              <a:srgbClr val="C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74126" y="4768138"/>
            <a:ext cx="1584920" cy="64328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r>
              <a:rPr sz="1000" b="0">
                <a:solidFill>
                  <a:srgbClr val="586274"/>
                </a:solidFill>
                <a:latin typeface="Aptos"/>
              </a:rPr>
              <a:t>false positive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08570" y="4795570"/>
            <a:ext cx="128016" cy="128016"/>
          </a:xfrm>
          <a:prstGeom prst="rect">
            <a:avLst/>
          </a:prstGeom>
          <a:solidFill>
            <a:srgbClr val="4874C4"/>
          </a:solidFill>
          <a:ln>
            <a:solidFill>
              <a:srgbClr val="487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91446" y="4768138"/>
            <a:ext cx="1584920" cy="64328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r>
              <a:rPr sz="1000" b="0">
                <a:solidFill>
                  <a:srgbClr val="586274"/>
                </a:solidFill>
                <a:latin typeface="Aptos"/>
              </a:rPr>
              <a:t>false negative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377" y="5932170"/>
            <a:ext cx="9265688" cy="37719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r>
              <a:rPr sz="1000" b="0">
                <a:solidFill>
                  <a:srgbClr val="586274"/>
                </a:solidFill>
                <a:latin typeface="Aptos"/>
              </a:rPr>
              <a:t>Synthetic public-safe image fixture; image treatment is integrated, clinical realism remains out of scope.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460" y="377190"/>
            <a:ext cx="10241023" cy="72009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r>
              <a:rPr sz="2700" b="1">
                <a:solidFill>
                  <a:srgbClr val="171C26"/>
                </a:solidFill>
                <a:latin typeface="Aptos"/>
              </a:rPr>
              <a:t>The evaluation path keeps image evidence and endpoints paired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75335" y="3429000"/>
            <a:ext cx="10241024" cy="0"/>
          </a:xfrm>
          <a:prstGeom prst="line">
            <a:avLst/>
          </a:prstGeom>
          <a:ln w="31750">
            <a:solidFill>
              <a:srgbClr val="0069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3"/>
          <p:cNvSpPr/>
          <p:nvPr/>
        </p:nvSpPr>
        <p:spPr>
          <a:xfrm>
            <a:off x="1999436" y="3355848"/>
            <a:ext cx="146304" cy="146304"/>
          </a:xfrm>
          <a:prstGeom prst="ellipse">
            <a:avLst/>
          </a:prstGeom>
          <a:solidFill>
            <a:srgbClr val="FCFCFA"/>
          </a:solidFill>
          <a:ln w="25400">
            <a:solidFill>
              <a:srgbClr val="006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5335" y="2537460"/>
            <a:ext cx="2194505" cy="54864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500" b="1">
                <a:solidFill>
                  <a:srgbClr val="171C26"/>
                </a:solidFill>
                <a:latin typeface="Aptos"/>
              </a:rPr>
              <a:t>Input image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9" y="3806190"/>
            <a:ext cx="1999438" cy="68580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000" b="0">
                <a:solidFill>
                  <a:srgbClr val="586274"/>
                </a:solidFill>
                <a:latin typeface="Aptos"/>
              </a:rPr>
              <a:t>same case</a:t>
            </a:r>
          </a:p>
        </p:txBody>
      </p:sp>
      <p:sp>
        <p:nvSpPr>
          <p:cNvPr id="7" name="Oval 6"/>
          <p:cNvSpPr/>
          <p:nvPr/>
        </p:nvSpPr>
        <p:spPr>
          <a:xfrm>
            <a:off x="4681609" y="3355848"/>
            <a:ext cx="146304" cy="146304"/>
          </a:xfrm>
          <a:prstGeom prst="ellipse">
            <a:avLst/>
          </a:prstGeom>
          <a:solidFill>
            <a:srgbClr val="FCFCFA"/>
          </a:solidFill>
          <a:ln w="25400">
            <a:solidFill>
              <a:srgbClr val="006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08" y="2537460"/>
            <a:ext cx="2194505" cy="54864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500" b="1">
                <a:solidFill>
                  <a:srgbClr val="171C26"/>
                </a:solidFill>
                <a:latin typeface="Aptos"/>
              </a:rPr>
              <a:t>GT / prediction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55042" y="3806190"/>
            <a:ext cx="1999438" cy="68580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000" b="0">
                <a:solidFill>
                  <a:srgbClr val="586274"/>
                </a:solidFill>
                <a:latin typeface="Aptos"/>
              </a:rPr>
              <a:t>paired overlay</a:t>
            </a:r>
          </a:p>
        </p:txBody>
      </p:sp>
      <p:sp>
        <p:nvSpPr>
          <p:cNvPr id="10" name="Oval 9"/>
          <p:cNvSpPr/>
          <p:nvPr/>
        </p:nvSpPr>
        <p:spPr>
          <a:xfrm>
            <a:off x="7363782" y="3355848"/>
            <a:ext cx="146304" cy="146304"/>
          </a:xfrm>
          <a:prstGeom prst="ellipse">
            <a:avLst/>
          </a:prstGeom>
          <a:solidFill>
            <a:srgbClr val="FCFCFA"/>
          </a:solidFill>
          <a:ln w="25400">
            <a:solidFill>
              <a:srgbClr val="006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9681" y="2537460"/>
            <a:ext cx="2194505" cy="54864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500" b="1">
                <a:solidFill>
                  <a:srgbClr val="171C26"/>
                </a:solidFill>
                <a:latin typeface="Aptos"/>
              </a:rPr>
              <a:t>Endpoint summary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215" y="3806190"/>
            <a:ext cx="1999438" cy="68580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000" b="0">
                <a:solidFill>
                  <a:srgbClr val="586274"/>
                </a:solidFill>
                <a:latin typeface="Aptos"/>
              </a:rPr>
              <a:t>quantified error</a:t>
            </a:r>
          </a:p>
        </p:txBody>
      </p:sp>
      <p:sp>
        <p:nvSpPr>
          <p:cNvPr id="13" name="Oval 12"/>
          <p:cNvSpPr/>
          <p:nvPr/>
        </p:nvSpPr>
        <p:spPr>
          <a:xfrm>
            <a:off x="10045955" y="3355848"/>
            <a:ext cx="146304" cy="146304"/>
          </a:xfrm>
          <a:prstGeom prst="ellipse">
            <a:avLst/>
          </a:prstGeom>
          <a:solidFill>
            <a:srgbClr val="FCFCFA"/>
          </a:solidFill>
          <a:ln w="25400">
            <a:solidFill>
              <a:srgbClr val="006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21854" y="2537460"/>
            <a:ext cx="2194505" cy="54864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500" b="1">
                <a:solidFill>
                  <a:srgbClr val="171C26"/>
                </a:solidFill>
                <a:latin typeface="Aptos"/>
              </a:rPr>
              <a:t>Failure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19388" y="3806190"/>
            <a:ext cx="1999438" cy="68580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000" b="0">
                <a:solidFill>
                  <a:srgbClr val="586274"/>
                </a:solidFill>
                <a:latin typeface="Aptos"/>
              </a:rPr>
              <a:t>case-level readout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377" y="5932170"/>
            <a:ext cx="9265688" cy="37719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r>
              <a:rPr sz="1000" b="0">
                <a:solidFill>
                  <a:srgbClr val="586274"/>
                </a:solidFill>
                <a:latin typeface="Aptos"/>
              </a:rPr>
              <a:t>Input, mask, prediction, and endpoint summaries are generated from the same synthetic case.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460" y="377190"/>
            <a:ext cx="10241023" cy="72009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r>
              <a:rPr sz="2700" b="1">
                <a:solidFill>
                  <a:srgbClr val="171C26"/>
                </a:solidFill>
                <a:latin typeface="Aptos"/>
              </a:rPr>
              <a:t>Lesion-size recall exposes the endpoint-level weakness</a:t>
            </a:r>
          </a:p>
        </p:txBody>
      </p:sp>
      <p:pic>
        <p:nvPicPr>
          <p:cNvPr id="3" name="Picture 2" descr="slide5_lesion_size_rec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6422" y="1432159"/>
            <a:ext cx="8534186" cy="3856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682172" y="5349240"/>
            <a:ext cx="7802684" cy="48006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r>
              <a:rPr sz="1300" b="0">
                <a:solidFill>
                  <a:srgbClr val="171C26"/>
                </a:solidFill>
                <a:latin typeface="Aptos"/>
              </a:rPr>
              <a:t>Recall drops most sharply for the smallest lesions in this deterministic fixture.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5932170"/>
            <a:ext cx="9265688" cy="37719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r>
              <a:rPr sz="1000" b="0">
                <a:solidFill>
                  <a:srgbClr val="586274"/>
                </a:solidFill>
                <a:latin typeface="Aptos"/>
              </a:rPr>
              <a:t>Deterministic fixture result; not clinical validation.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460" y="377190"/>
            <a:ext cx="10241023" cy="72009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r>
              <a:rPr sz="2700" b="1">
                <a:solidFill>
                  <a:srgbClr val="171C26"/>
                </a:solidFill>
                <a:latin typeface="Aptos"/>
              </a:rPr>
              <a:t>Same-case error maps show where the endpoint is lost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50" y="1287932"/>
            <a:ext cx="3608741" cy="24003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r>
              <a:rPr sz="1000" b="1">
                <a:solidFill>
                  <a:srgbClr val="586274"/>
                </a:solidFill>
                <a:latin typeface="Aptos"/>
              </a:rPr>
              <a:t>Input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50" y="1596542"/>
            <a:ext cx="3608741" cy="2215134"/>
          </a:xfrm>
          <a:prstGeom prst="rect">
            <a:avLst/>
          </a:prstGeom>
          <a:noFill/>
          <a:ln w="10160">
            <a:solidFill>
              <a:srgbClr val="BCC4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lide1_in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54" y="1596542"/>
            <a:ext cx="2215134" cy="221513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291476" y="1287932"/>
            <a:ext cx="3608741" cy="24003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r>
              <a:rPr sz="1000" b="1">
                <a:solidFill>
                  <a:srgbClr val="586274"/>
                </a:solidFill>
                <a:latin typeface="Aptos"/>
              </a:rPr>
              <a:t>GT / prediction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1476" y="1596542"/>
            <a:ext cx="3608741" cy="2215134"/>
          </a:xfrm>
          <a:prstGeom prst="rect">
            <a:avLst/>
          </a:prstGeom>
          <a:noFill/>
          <a:ln w="10160">
            <a:solidFill>
              <a:srgbClr val="BCC4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lide1_over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8280" y="1596542"/>
            <a:ext cx="2215134" cy="221513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17202" y="1287932"/>
            <a:ext cx="3608741" cy="24003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r>
              <a:rPr sz="1000" b="1">
                <a:solidFill>
                  <a:srgbClr val="586274"/>
                </a:solidFill>
                <a:latin typeface="Aptos"/>
              </a:rPr>
              <a:t>Error map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17202" y="1596542"/>
            <a:ext cx="3608741" cy="2215134"/>
          </a:xfrm>
          <a:prstGeom prst="rect">
            <a:avLst/>
          </a:prstGeom>
          <a:noFill/>
          <a:ln w="10160">
            <a:solidFill>
              <a:srgbClr val="BCC4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ailure_err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4006" y="1596542"/>
            <a:ext cx="2215134" cy="221513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291476" y="3983126"/>
            <a:ext cx="7534467" cy="68580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r>
              <a:rPr sz="1300" b="0">
                <a:solidFill>
                  <a:srgbClr val="171C26"/>
                </a:solidFill>
                <a:latin typeface="Aptos"/>
              </a:rPr>
              <a:t>The miss is spatially small but changes lesion-level recall.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50" y="4865522"/>
            <a:ext cx="128016" cy="128016"/>
          </a:xfrm>
          <a:prstGeom prst="rect">
            <a:avLst/>
          </a:prstGeom>
          <a:solidFill>
            <a:srgbClr val="2D8C53"/>
          </a:solidFill>
          <a:ln>
            <a:solidFill>
              <a:srgbClr val="2D8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26" y="4838090"/>
            <a:ext cx="1584920" cy="44577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r>
              <a:rPr sz="1000" b="0">
                <a:solidFill>
                  <a:srgbClr val="586274"/>
                </a:solidFill>
                <a:latin typeface="Aptos"/>
              </a:rPr>
              <a:t>overlap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83070" y="4865522"/>
            <a:ext cx="128016" cy="128016"/>
          </a:xfrm>
          <a:prstGeom prst="rect">
            <a:avLst/>
          </a:prstGeom>
          <a:solidFill>
            <a:srgbClr val="CA4A4A"/>
          </a:solidFill>
          <a:ln>
            <a:solidFill>
              <a:srgbClr val="C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65946" y="4838090"/>
            <a:ext cx="1584920" cy="44577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r>
              <a:rPr sz="1000" b="0">
                <a:solidFill>
                  <a:srgbClr val="586274"/>
                </a:solidFill>
                <a:latin typeface="Aptos"/>
              </a:rPr>
              <a:t>false positive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390" y="4865522"/>
            <a:ext cx="128016" cy="128016"/>
          </a:xfrm>
          <a:prstGeom prst="rect">
            <a:avLst/>
          </a:prstGeom>
          <a:solidFill>
            <a:srgbClr val="4874C4"/>
          </a:solidFill>
          <a:ln>
            <a:solidFill>
              <a:srgbClr val="487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83266" y="4838090"/>
            <a:ext cx="1584920" cy="44577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r>
              <a:rPr sz="1000" b="0">
                <a:solidFill>
                  <a:srgbClr val="586274"/>
                </a:solidFill>
                <a:latin typeface="Aptos"/>
              </a:rPr>
              <a:t>false negative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77" y="5932170"/>
            <a:ext cx="9265688" cy="37719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r>
              <a:rPr sz="1000" b="0">
                <a:solidFill>
                  <a:srgbClr val="586274"/>
                </a:solidFill>
                <a:latin typeface="Aptos"/>
              </a:rPr>
              <a:t>Synthetic public-safe image fixture; image treatment is integrated, clinical realism remains out of scope.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