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700" b="1">
                <a:solidFill>
                  <a:srgbClr val="171C26"/>
                </a:solidFill>
                <a:latin typeface="Aptos"/>
              </a:rPr>
              <a:t>Overlay errors localize the small-lesion failure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1165860"/>
            <a:ext cx="3803808" cy="24003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1">
                <a:solidFill>
                  <a:srgbClr val="586274"/>
                </a:solidFill>
                <a:latin typeface="Aptos"/>
              </a:rPr>
              <a:t>GT /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169" y="1257757"/>
            <a:ext cx="3803808" cy="4135374"/>
          </a:xfrm>
          <a:prstGeom prst="rect">
            <a:avLst/>
          </a:prstGeom>
          <a:noFill/>
          <a:ln w="10160">
            <a:solidFill>
              <a:srgbClr val="BCC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1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1423539"/>
            <a:ext cx="3803808" cy="3803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64121" y="1165860"/>
            <a:ext cx="2852856" cy="24003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1">
                <a:solidFill>
                  <a:srgbClr val="586274"/>
                </a:solidFill>
                <a:latin typeface="Aptos"/>
              </a:rPr>
              <a:t>Error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164121" y="1395603"/>
            <a:ext cx="2852856" cy="2113635"/>
          </a:xfrm>
          <a:prstGeom prst="rect">
            <a:avLst/>
          </a:prstGeom>
          <a:noFill/>
          <a:ln w="10160">
            <a:solidFill>
              <a:srgbClr val="BCC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ilure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731" y="1395603"/>
            <a:ext cx="2113635" cy="2113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73930" y="3693033"/>
            <a:ext cx="4564570" cy="82707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0">
                <a:solidFill>
                  <a:srgbClr val="171C26"/>
                </a:solidFill>
                <a:latin typeface="Aptos"/>
              </a:rPr>
              <a:t>The miss is spatially small but changes lesion-level recall.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3930" y="4795570"/>
            <a:ext cx="128016" cy="128016"/>
          </a:xfrm>
          <a:prstGeom prst="rect">
            <a:avLst/>
          </a:prstGeom>
          <a:solidFill>
            <a:srgbClr val="2D8C53"/>
          </a:solidFill>
          <a:ln>
            <a:solidFill>
              <a:srgbClr val="2D8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6806" y="4768138"/>
            <a:ext cx="1584920" cy="6432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00" b="0">
                <a:solidFill>
                  <a:srgbClr val="586274"/>
                </a:solidFill>
                <a:latin typeface="Aptos"/>
              </a:rPr>
              <a:t>overlap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91250" y="4795570"/>
            <a:ext cx="128016" cy="128016"/>
          </a:xfrm>
          <a:prstGeom prst="rect">
            <a:avLst/>
          </a:prstGeom>
          <a:solidFill>
            <a:srgbClr val="CA4A4A"/>
          </a:solidFill>
          <a:ln>
            <a:solidFill>
              <a:srgbClr val="C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4126" y="4768138"/>
            <a:ext cx="1584920" cy="6432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00" b="0">
                <a:solidFill>
                  <a:srgbClr val="586274"/>
                </a:solidFill>
                <a:latin typeface="Aptos"/>
              </a:rPr>
              <a:t>false positive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08570" y="4795570"/>
            <a:ext cx="128016" cy="128016"/>
          </a:xfrm>
          <a:prstGeom prst="rect">
            <a:avLst/>
          </a:prstGeom>
          <a:solidFill>
            <a:srgbClr val="4874C4"/>
          </a:solidFill>
          <a:ln>
            <a:solidFill>
              <a:srgbClr val="487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1446" y="4768138"/>
            <a:ext cx="1584920" cy="6432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00" b="0">
                <a:solidFill>
                  <a:srgbClr val="586274"/>
                </a:solidFill>
                <a:latin typeface="Aptos"/>
              </a:rPr>
              <a:t>false negative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Synthetic public-safe image fixture; image treatment is integrated, clinical realism remains out of scope.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700" b="1">
                <a:solidFill>
                  <a:srgbClr val="171C26"/>
                </a:solidFill>
                <a:latin typeface="Aptos"/>
              </a:rPr>
              <a:t>The evaluation path keeps image evidence and endpoints paired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5335" y="3429000"/>
            <a:ext cx="10241024" cy="0"/>
          </a:xfrm>
          <a:prstGeom prst="line">
            <a:avLst/>
          </a:prstGeom>
          <a:ln w="31750">
            <a:solidFill>
              <a:srgbClr val="00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99436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35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171C26"/>
                </a:solidFill>
                <a:latin typeface="Aptos"/>
              </a:rPr>
              <a:t>Input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9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same case</a:t>
            </a:r>
          </a:p>
        </p:txBody>
      </p:sp>
      <p:sp>
        <p:nvSpPr>
          <p:cNvPr id="7" name="Oval 6"/>
          <p:cNvSpPr/>
          <p:nvPr/>
        </p:nvSpPr>
        <p:spPr>
          <a:xfrm>
            <a:off x="4681609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08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171C26"/>
                </a:solidFill>
                <a:latin typeface="Aptos"/>
              </a:rPr>
              <a:t>GT /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5042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paired overlay</a:t>
            </a:r>
          </a:p>
        </p:txBody>
      </p:sp>
      <p:sp>
        <p:nvSpPr>
          <p:cNvPr id="10" name="Oval 9"/>
          <p:cNvSpPr/>
          <p:nvPr/>
        </p:nvSpPr>
        <p:spPr>
          <a:xfrm>
            <a:off x="7363782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9681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171C26"/>
                </a:solidFill>
                <a:latin typeface="Aptos"/>
              </a:rPr>
              <a:t>Endpoint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215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quantified error</a:t>
            </a:r>
          </a:p>
        </p:txBody>
      </p:sp>
      <p:sp>
        <p:nvSpPr>
          <p:cNvPr id="13" name="Oval 12"/>
          <p:cNvSpPr/>
          <p:nvPr/>
        </p:nvSpPr>
        <p:spPr>
          <a:xfrm>
            <a:off x="10045955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1854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171C26"/>
                </a:solidFill>
                <a:latin typeface="Aptos"/>
              </a:rPr>
              <a:t>Failure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9388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case-level readout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Input, mask, prediction, and endpoint summaries are generated from the same synthetic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700" b="1">
                <a:solidFill>
                  <a:srgbClr val="171C26"/>
                </a:solidFill>
                <a:latin typeface="Aptos"/>
              </a:rPr>
              <a:t>Lesion-size recall exposes the endpoint-level weakness</a:t>
            </a:r>
          </a:p>
        </p:txBody>
      </p:sp>
      <p:pic>
        <p:nvPicPr>
          <p:cNvPr id="3" name="Picture 2" descr="slide5_lesion_size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22" y="1432159"/>
            <a:ext cx="8534186" cy="3856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82172" y="5349240"/>
            <a:ext cx="7802684" cy="4800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0">
                <a:solidFill>
                  <a:srgbClr val="171C26"/>
                </a:solidFill>
                <a:latin typeface="Aptos"/>
              </a:rPr>
              <a:t>Recall drops most sharply for the smallest lesions in this deterministic fixture.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Deterministic fixture result; not clinical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700" b="1">
                <a:solidFill>
                  <a:srgbClr val="171C26"/>
                </a:solidFill>
                <a:latin typeface="Aptos"/>
              </a:rPr>
              <a:t>Same-case error maps show where the endpoint is lost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50" y="1287932"/>
            <a:ext cx="3608741" cy="24003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1">
                <a:solidFill>
                  <a:srgbClr val="586274"/>
                </a:solidFill>
                <a:latin typeface="Aptos"/>
              </a:rPr>
              <a:t>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50" y="1596542"/>
            <a:ext cx="3608741" cy="2215134"/>
          </a:xfrm>
          <a:prstGeom prst="rect">
            <a:avLst/>
          </a:prstGeom>
          <a:noFill/>
          <a:ln w="10160">
            <a:solidFill>
              <a:srgbClr val="BCC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1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54" y="1596542"/>
            <a:ext cx="2215134" cy="22151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91476" y="1287932"/>
            <a:ext cx="3608741" cy="24003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1">
                <a:solidFill>
                  <a:srgbClr val="586274"/>
                </a:solidFill>
                <a:latin typeface="Aptos"/>
              </a:rPr>
              <a:t>GT /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1476" y="1596542"/>
            <a:ext cx="3608741" cy="2215134"/>
          </a:xfrm>
          <a:prstGeom prst="rect">
            <a:avLst/>
          </a:prstGeom>
          <a:noFill/>
          <a:ln w="10160">
            <a:solidFill>
              <a:srgbClr val="BCC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1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280" y="1596542"/>
            <a:ext cx="2215134" cy="2215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17202" y="1287932"/>
            <a:ext cx="3608741" cy="24003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1">
                <a:solidFill>
                  <a:srgbClr val="586274"/>
                </a:solidFill>
                <a:latin typeface="Aptos"/>
              </a:rPr>
              <a:t>Error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17202" y="1596542"/>
            <a:ext cx="3608741" cy="2215134"/>
          </a:xfrm>
          <a:prstGeom prst="rect">
            <a:avLst/>
          </a:prstGeom>
          <a:noFill/>
          <a:ln w="10160">
            <a:solidFill>
              <a:srgbClr val="BCC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ilure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006" y="1596542"/>
            <a:ext cx="2215134" cy="22151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1476" y="3983126"/>
            <a:ext cx="7534467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0">
                <a:solidFill>
                  <a:srgbClr val="171C26"/>
                </a:solidFill>
                <a:latin typeface="Aptos"/>
              </a:rPr>
              <a:t>The miss is spatially small but changes lesion-level recall.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50" y="4865522"/>
            <a:ext cx="128016" cy="128016"/>
          </a:xfrm>
          <a:prstGeom prst="rect">
            <a:avLst/>
          </a:prstGeom>
          <a:solidFill>
            <a:srgbClr val="2D8C53"/>
          </a:solidFill>
          <a:ln>
            <a:solidFill>
              <a:srgbClr val="2D8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26" y="4838090"/>
            <a:ext cx="1584920" cy="44577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00" b="0">
                <a:solidFill>
                  <a:srgbClr val="586274"/>
                </a:solidFill>
                <a:latin typeface="Aptos"/>
              </a:rPr>
              <a:t>overlap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70" y="4865522"/>
            <a:ext cx="128016" cy="128016"/>
          </a:xfrm>
          <a:prstGeom prst="rect">
            <a:avLst/>
          </a:prstGeom>
          <a:solidFill>
            <a:srgbClr val="CA4A4A"/>
          </a:solidFill>
          <a:ln>
            <a:solidFill>
              <a:srgbClr val="C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46" y="4838090"/>
            <a:ext cx="1584920" cy="44577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00" b="0">
                <a:solidFill>
                  <a:srgbClr val="586274"/>
                </a:solidFill>
                <a:latin typeface="Aptos"/>
              </a:rPr>
              <a:t>false positive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390" y="4865522"/>
            <a:ext cx="128016" cy="128016"/>
          </a:xfrm>
          <a:prstGeom prst="rect">
            <a:avLst/>
          </a:prstGeom>
          <a:solidFill>
            <a:srgbClr val="4874C4"/>
          </a:solidFill>
          <a:ln>
            <a:solidFill>
              <a:srgbClr val="487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66" y="4838090"/>
            <a:ext cx="1584920" cy="44577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00" b="0">
                <a:solidFill>
                  <a:srgbClr val="586274"/>
                </a:solidFill>
                <a:latin typeface="Aptos"/>
              </a:rPr>
              <a:t>false negative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Synthetic public-safe image fixture; image treatment is integrated, clinical realism remains out of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