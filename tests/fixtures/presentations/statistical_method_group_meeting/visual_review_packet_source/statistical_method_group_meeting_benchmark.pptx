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05256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7202A"/>
                </a:solidFill>
                <a:latin typeface="Aptos"/>
              </a:defRPr>
            </a:pPr>
            <a:r>
              <a:t>Center correlation breaks iid intervals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06977"/>
                </a:solidFill>
                <a:latin typeface="Aptos"/>
              </a:defRPr>
            </a:pPr>
            <a:r>
              <a:t>01/05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4F1F68"/>
                </a:solidFill>
                <a:latin typeface="Aptos"/>
              </a:defRPr>
            </a:pPr>
            <a:r>
              <a:t>The point estimate targets β₁, but the uncertainty model changes.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06070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20" b="1">
                <a:solidFill>
                  <a:srgbClr val="606977"/>
                </a:solidFill>
                <a:latin typeface="Aptos"/>
              </a:defRPr>
            </a:pPr>
            <a:r>
              <a:t>Synthetic multi-center simulation; treatment effect β₁=0.25.</a:t>
            </a:r>
          </a:p>
        </p:txBody>
      </p:sp>
      <p:pic>
        <p:nvPicPr>
          <p:cNvPr id="7" name="Picture 6" descr="slide1_dg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91056"/>
            <a:ext cx="6537960" cy="811337"/>
          </a:xfrm>
          <a:prstGeom prst="rect">
            <a:avLst/>
          </a:prstGeom>
        </p:spPr>
      </p:pic>
      <p:pic>
        <p:nvPicPr>
          <p:cNvPr id="8" name="Picture 7" descr="slide1_compon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761488"/>
            <a:ext cx="6263640" cy="678779"/>
          </a:xfrm>
          <a:prstGeom prst="rect">
            <a:avLst/>
          </a:prstGeom>
        </p:spPr>
      </p:pic>
      <p:pic>
        <p:nvPicPr>
          <p:cNvPr id="9" name="Picture 8" descr="slide1_i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68" y="1828800"/>
            <a:ext cx="2240280" cy="10371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6112" y="3767328"/>
            <a:ext cx="237744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20" b="1">
                <a:solidFill>
                  <a:srgbClr val="1F4E79"/>
                </a:solidFill>
                <a:latin typeface="Aptos"/>
              </a:defRPr>
            </a:pPr>
            <a:r>
              <a:t>β₁ is the treatment effect.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767328"/>
            <a:ext cx="306324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0F766E"/>
                </a:solidFill>
                <a:latin typeface="Aptos"/>
              </a:defRPr>
            </a:pPr>
            <a:r>
              <a:t>uⱼ: center-level shift shared within center j.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767328"/>
            <a:ext cx="24231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9A6A16"/>
                </a:solidFill>
                <a:latin typeface="Aptos"/>
              </a:defRPr>
            </a:pPr>
            <a:r>
              <a:t>εᵢⱼ: individual residual noise.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788920"/>
            <a:ext cx="2926080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40" b="1">
                <a:solidFill>
                  <a:srgbClr val="4F1F68"/>
                </a:solidFill>
                <a:latin typeface="Aptos"/>
              </a:defRPr>
            </a:pPr>
            <a:r>
              <a:t>ρ is the intraclass correlation; center j is the inference unit.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4407408"/>
            <a:ext cx="9875520" cy="0"/>
          </a:xfrm>
          <a:prstGeom prst="line">
            <a:avLst/>
          </a:prstGeom>
          <a:ln w="12700">
            <a:solidFill>
              <a:srgbClr val="C6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" y="4700016"/>
            <a:ext cx="813816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520" b="1">
                <a:solidFill>
                  <a:srgbClr val="17202A"/>
                </a:solidFill>
                <a:latin typeface="Aptos"/>
              </a:defRPr>
            </a:pPr>
            <a:r>
              <a:t>Point estimates can remain centered while iid intervals lose coverage.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285232"/>
            <a:ext cx="99669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60" b="0">
                <a:solidFill>
                  <a:srgbClr val="606977"/>
                </a:solidFill>
                <a:latin typeface="Aptos"/>
              </a:defRPr>
            </a:pPr>
            <a:r>
              <a:t>Grid: G=8/20/50 centers, ICC ρ=0/.1/.3/.5, balanced and imbalanced cluster sizes.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05256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7202A"/>
                </a:solidFill>
                <a:latin typeface="Aptos"/>
              </a:defRPr>
            </a:pPr>
            <a:r>
              <a:t>The sandwich variance aggregates by center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06977"/>
                </a:solidFill>
                <a:latin typeface="Aptos"/>
              </a:defRPr>
            </a:pPr>
            <a:r>
              <a:t>02/05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4F1F68"/>
                </a:solidFill>
                <a:latin typeface="Aptos"/>
              </a:defRPr>
            </a:pPr>
            <a:r>
              <a:t>The middle term is a center-level score covariance, not a row-level residual pool.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60704"/>
            <a:ext cx="1051560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80" b="1">
                <a:solidFill>
                  <a:srgbClr val="606977"/>
                </a:solidFill>
                <a:latin typeface="Aptos"/>
              </a:defRPr>
            </a:pPr>
            <a:r>
              <a:t>Both intervals estimate β₁; only the variance object changes.</a:t>
            </a:r>
          </a:p>
        </p:txBody>
      </p:sp>
      <p:pic>
        <p:nvPicPr>
          <p:cNvPr id="7" name="Picture 6" descr="slide2_sandwi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627632"/>
            <a:ext cx="9235440" cy="1251367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4709160" y="2743200"/>
            <a:ext cx="2130552" cy="0"/>
          </a:xfrm>
          <a:prstGeom prst="line">
            <a:avLst/>
          </a:prstGeom>
          <a:ln w="3810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897880" y="2816352"/>
            <a:ext cx="0" cy="585216"/>
          </a:xfrm>
          <a:prstGeom prst="line">
            <a:avLst/>
          </a:prstGeom>
          <a:ln w="22860">
            <a:solidFill>
              <a:srgbClr val="4F1F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4760" y="3529584"/>
            <a:ext cx="448056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300" b="1">
                <a:solidFill>
                  <a:srgbClr val="4F1F68"/>
                </a:solidFill>
                <a:latin typeface="Aptos"/>
              </a:defRPr>
            </a:pPr>
            <a:r>
              <a:t>Cluster meat: score contributions are summed by center before forming covariance.</a:t>
            </a:r>
          </a:p>
        </p:txBody>
      </p:sp>
      <p:pic>
        <p:nvPicPr>
          <p:cNvPr id="11" name="Picture 10" descr="slide2_na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553712"/>
            <a:ext cx="2926080" cy="55187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5266944"/>
            <a:ext cx="33832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60" b="1">
                <a:solidFill>
                  <a:srgbClr val="A33A34"/>
                </a:solidFill>
                <a:latin typeface="Aptos"/>
              </a:defRPr>
            </a:pPr>
            <a:r>
              <a:t>Naive variance treats rows as independent.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2" y="4599432"/>
            <a:ext cx="598932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40" b="1">
                <a:solidFill>
                  <a:srgbClr val="17202A"/>
                </a:solidFill>
                <a:latin typeface="Aptos"/>
              </a:defRPr>
            </a:pPr>
            <a:r>
              <a:t>The simulation uses cluster-robust z intervals; CR2 and wild bootstrap remain planned comparisons.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05256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7202A"/>
                </a:solidFill>
                <a:latin typeface="Aptos"/>
              </a:defRPr>
            </a:pPr>
            <a:r>
              <a:t>A stress grid separates interval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06977"/>
                </a:solidFill>
                <a:latin typeface="Aptos"/>
              </a:defRPr>
            </a:pPr>
            <a:r>
              <a:t>03/05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4F1F68"/>
                </a:solidFill>
                <a:latin typeface="Aptos"/>
              </a:defRPr>
            </a:pPr>
            <a:r>
              <a:t>The same generated samples feed two intervals and the same coverage endpoint.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60704"/>
            <a:ext cx="1051560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80" b="1">
                <a:solidFill>
                  <a:srgbClr val="606977"/>
                </a:solidFill>
                <a:latin typeface="Aptos"/>
              </a:defRPr>
            </a:pPr>
            <a:r>
              <a:t>Synthetic experiment: vary center count, ICC, and cluster-size balance.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901952"/>
            <a:ext cx="233172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9A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1947672"/>
            <a:ext cx="2221991" cy="11521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80" b="1">
                <a:solidFill>
                  <a:srgbClr val="17202A"/>
                </a:solidFill>
                <a:latin typeface="Aptos"/>
              </a:defRPr>
            </a:pPr>
            <a:r>
              <a:t>DGP knobs</a:t>
            </a:r>
            <a:br/>
            <a:r>
              <a:t>G=8,20,50 centers</a:t>
            </a:r>
            <a:br/>
            <a:r>
              <a:t>ICC ρ=0,.1,.3,.5</a:t>
            </a:r>
            <a:br/>
            <a:r>
              <a:t>balanced vs imbalanced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2736" y="1901952"/>
            <a:ext cx="233172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947672"/>
            <a:ext cx="2221991" cy="11521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80" b="1">
                <a:solidFill>
                  <a:srgbClr val="17202A"/>
                </a:solidFill>
                <a:latin typeface="Aptos"/>
              </a:defRPr>
            </a:pPr>
            <a:r>
              <a:t>Generated samples</a:t>
            </a:r>
            <a:br/>
            <a:r>
              <a:t>400 replicates per cell</a:t>
            </a:r>
            <a:br/>
            <a:r>
              <a:t>outcome, treatment, center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499616"/>
            <a:ext cx="215798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1383" y="1545336"/>
            <a:ext cx="2048255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80" b="1">
                <a:solidFill>
                  <a:srgbClr val="A33A34"/>
                </a:solidFill>
                <a:latin typeface="Aptos"/>
              </a:defRPr>
            </a:pPr>
            <a:r>
              <a:t>naive iid OLS z interval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0" y="2788920"/>
            <a:ext cx="2157984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3" y="2834639"/>
            <a:ext cx="2048255" cy="6217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00" b="1">
                <a:solidFill>
                  <a:srgbClr val="0F766E"/>
                </a:solidFill>
                <a:latin typeface="Aptos"/>
              </a:defRPr>
            </a:pPr>
            <a:r>
              <a:t>cluster-robust z interval</a:t>
            </a:r>
            <a:br/>
            <a:r>
              <a:t>center scores aggregated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17152" y="2130552"/>
            <a:ext cx="21031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4F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2176272"/>
            <a:ext cx="1993391" cy="7680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80" b="1">
                <a:solidFill>
                  <a:srgbClr val="17202A"/>
                </a:solidFill>
                <a:latin typeface="Aptos"/>
              </a:defRPr>
            </a:pPr>
            <a:r>
              <a:t>coverage, bias, interval width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90672" y="2523744"/>
            <a:ext cx="475488" cy="0"/>
          </a:xfrm>
          <a:prstGeom prst="line">
            <a:avLst/>
          </a:prstGeom>
          <a:ln w="20320">
            <a:solidFill>
              <a:srgbClr val="6069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943600" y="1773936"/>
            <a:ext cx="475488" cy="749808"/>
          </a:xfrm>
          <a:prstGeom prst="line">
            <a:avLst/>
          </a:prstGeom>
          <a:ln w="20320">
            <a:solidFill>
              <a:srgbClr val="6069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43600" y="2523744"/>
            <a:ext cx="475488" cy="603504"/>
          </a:xfrm>
          <a:prstGeom prst="line">
            <a:avLst/>
          </a:prstGeom>
          <a:ln w="20320">
            <a:solidFill>
              <a:srgbClr val="6069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622792" y="1773936"/>
            <a:ext cx="566928" cy="621792"/>
          </a:xfrm>
          <a:prstGeom prst="line">
            <a:avLst/>
          </a:prstGeom>
          <a:ln w="20320">
            <a:solidFill>
              <a:srgbClr val="6069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622792" y="2724912"/>
            <a:ext cx="566928" cy="402336"/>
          </a:xfrm>
          <a:prstGeom prst="line">
            <a:avLst/>
          </a:prstGeom>
          <a:ln w="20320">
            <a:solidFill>
              <a:srgbClr val="6069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8680" y="4407408"/>
            <a:ext cx="9966960" cy="0"/>
          </a:xfrm>
          <a:prstGeom prst="line">
            <a:avLst/>
          </a:prstGeom>
          <a:ln w="12700">
            <a:solidFill>
              <a:srgbClr val="C6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4736592"/>
            <a:ext cx="98755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400" b="1">
                <a:solidFill>
                  <a:srgbClr val="17202A"/>
                </a:solidFill>
                <a:latin typeface="Aptos"/>
              </a:defRPr>
            </a:pPr>
            <a:r>
              <a:t>The design asks whether center aggregation repairs interval coverage across the stress grid.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340096"/>
            <a:ext cx="98755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50" b="0">
                <a:solidFill>
                  <a:srgbClr val="606977"/>
                </a:solidFill>
                <a:latin typeface="Aptos"/>
              </a:defRPr>
            </a:pPr>
            <a:r>
              <a:t>Simulation study; endpoints are computed from the deterministic output for the same DGP grid.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05256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7202A"/>
                </a:solidFill>
                <a:latin typeface="Aptos"/>
              </a:defRPr>
            </a:pPr>
            <a:r>
              <a:t>Cluster adjustment recovers coverage except at small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06977"/>
                </a:solidFill>
                <a:latin typeface="Aptos"/>
              </a:defRPr>
            </a:pPr>
            <a:r>
              <a:t>04/05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4F1F68"/>
                </a:solidFill>
                <a:latin typeface="Aptos"/>
              </a:defRPr>
            </a:pPr>
            <a:r>
              <a:t>Coverage near 0.95 is the target; uncertainty is part of the figure.</a:t>
            </a:r>
          </a:p>
        </p:txBody>
      </p:sp>
      <p:pic>
        <p:nvPicPr>
          <p:cNvPr id="6" name="Picture 5" descr="coverage_by_i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170432"/>
            <a:ext cx="9966960" cy="47141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5870448"/>
            <a:ext cx="81381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050" b="0">
                <a:solidFill>
                  <a:srgbClr val="606977"/>
                </a:solidFill>
                <a:latin typeface="Aptos"/>
              </a:defRPr>
            </a:pPr>
            <a:r>
              <a:t>Synthetic imbalanced-cluster simulation; bands show Monte Carlo uncertainty.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05256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7202A"/>
                </a:solidFill>
                <a:latin typeface="Aptos"/>
              </a:defRPr>
            </a:pPr>
            <a:r>
              <a:t>The remaining failure is finite-center undercoverage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06977"/>
                </a:solidFill>
                <a:latin typeface="Aptos"/>
              </a:defRPr>
            </a:pPr>
            <a:r>
              <a:t>05/05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4F1F68"/>
                </a:solidFill>
                <a:latin typeface="Aptos"/>
              </a:defRPr>
            </a:pPr>
            <a:r>
              <a:t>The next experiment tests small-sample corrections under the same grid.</a:t>
            </a:r>
          </a:p>
        </p:txBody>
      </p:sp>
      <p:pic>
        <p:nvPicPr>
          <p:cNvPr id="6" name="Picture 5" descr="small_g_negativ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261872"/>
            <a:ext cx="7589520" cy="33445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58200" y="1417320"/>
            <a:ext cx="251460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00" b="1">
                <a:solidFill>
                  <a:srgbClr val="A33A34"/>
                </a:solidFill>
                <a:latin typeface="Aptos"/>
              </a:defRPr>
            </a:pPr>
            <a:r>
              <a:t>At G=8, ICC ρ=.5, imbalanced clusters, cluster-robust coverage is 0.78.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58200" y="2359152"/>
            <a:ext cx="2377440" cy="0"/>
          </a:xfrm>
          <a:prstGeom prst="line">
            <a:avLst/>
          </a:prstGeom>
          <a:ln w="12700">
            <a:solidFill>
              <a:srgbClr val="C6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58200" y="2615184"/>
            <a:ext cx="26517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10" b="1">
                <a:solidFill>
                  <a:srgbClr val="17202A"/>
                </a:solidFill>
                <a:latin typeface="Aptos"/>
              </a:defRPr>
            </a:pPr>
            <a:r>
              <a:t>Few centers make the sandwich variance noisy; imbalance increases center leverage.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458200" y="3493008"/>
            <a:ext cx="2377440" cy="0"/>
          </a:xfrm>
          <a:prstGeom prst="line">
            <a:avLst/>
          </a:prstGeom>
          <a:ln w="12700">
            <a:solidFill>
              <a:srgbClr val="C6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458200" y="3749039"/>
            <a:ext cx="2651760" cy="7863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80" b="1">
                <a:solidFill>
                  <a:srgbClr val="0F766E"/>
                </a:solidFill>
                <a:latin typeface="Aptos"/>
              </a:defRPr>
            </a:pPr>
            <a:r>
              <a:t>Planned comparison: CR2 small-sample correction and wild cluster bootstrap on the same grid.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669280"/>
            <a:ext cx="101498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80" b="0">
                <a:solidFill>
                  <a:srgbClr val="606977"/>
                </a:solidFill>
                <a:latin typeface="Aptos"/>
              </a:defRPr>
            </a:pPr>
            <a:r>
              <a:t>Completed evidence is limited to the two intervals shown; the correction methods are future tests.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