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0525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50" b="1">
                <a:solidFill>
                  <a:srgbClr val="17202A"/>
                </a:solidFill>
                <a:latin typeface="Aptos"/>
              </a:defRPr>
            </a:pPr>
            <a:r>
              <a:t>Why iid intervals fail with center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06977"/>
                </a:solidFill>
                <a:latin typeface="Aptos"/>
              </a:defRPr>
            </a:pPr>
            <a:r>
              <a:t>01/05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6984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20" b="1">
                <a:solidFill>
                  <a:srgbClr val="4F1F68"/>
                </a:solidFill>
                <a:latin typeface="Aptos"/>
              </a:defRPr>
            </a:pPr>
            <a:r>
              <a:t>The estimand is stable, but the uncertainty model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78992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60" b="1">
                <a:solidFill>
                  <a:srgbClr val="9A6A16"/>
                </a:solidFill>
                <a:latin typeface="Aptos"/>
              </a:defRPr>
            </a:pPr>
            <a:r>
              <a:t>Synthetic benchmark evidence boundary: generated DGP only, not completed validation or clinical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44752"/>
            <a:ext cx="11887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606977"/>
                </a:solidFill>
                <a:latin typeface="Aptos"/>
              </a:defRPr>
            </a:pPr>
            <a:r>
              <a:t>DGP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737360"/>
            <a:ext cx="4663440" cy="1508760"/>
          </a:xfrm>
          <a:prstGeom prst="rect">
            <a:avLst/>
          </a:prstGeom>
          <a:solidFill>
            <a:srgbClr val="E5EEF8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83080"/>
            <a:ext cx="4553712" cy="141731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700" b="1">
                <a:solidFill>
                  <a:srgbClr val="1F4E79"/>
                </a:solidFill>
                <a:latin typeface="Aptos"/>
              </a:defRPr>
            </a:pPr>
            <a:r>
              <a:t>Y_ij = beta_0 + beta_1 T_ij + u_j + epsilon_ij</a:t>
            </a:r>
            <a:br/>
            <a:br/>
            <a:r>
              <a:t>Estimand: beta_1 = treatment effect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70448" y="1508760"/>
            <a:ext cx="2423160" cy="1143000"/>
          </a:xfrm>
          <a:prstGeom prst="rect">
            <a:avLst/>
          </a:prstGeom>
          <a:solidFill>
            <a:srgbClr val="E1F4F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25312" y="1554480"/>
            <a:ext cx="2313432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60" b="1">
                <a:solidFill>
                  <a:srgbClr val="0F766E"/>
                </a:solidFill>
                <a:latin typeface="Aptos"/>
              </a:defRPr>
            </a:pPr>
            <a:r>
              <a:t>u_j ~ N(0, tau^2)</a:t>
            </a:r>
            <a:br/>
            <a:r>
              <a:t>center-level random effect</a:t>
            </a:r>
            <a:br/>
            <a:r>
              <a:t>shared inside center j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1508760"/>
            <a:ext cx="2331720" cy="1143000"/>
          </a:xfrm>
          <a:prstGeom prst="rect">
            <a:avLst/>
          </a:prstGeom>
          <a:solidFill>
            <a:srgbClr val="FBF1D6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87384" y="1554480"/>
            <a:ext cx="2221991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60" b="1">
                <a:solidFill>
                  <a:srgbClr val="9A6A16"/>
                </a:solidFill>
                <a:latin typeface="Aptos"/>
              </a:defRPr>
            </a:pPr>
            <a:r>
              <a:t>epsilon_ij ~ N(0, sigma^2)</a:t>
            </a:r>
            <a:br/>
            <a:r>
              <a:t>individual residual noise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999232"/>
            <a:ext cx="4800600" cy="841248"/>
          </a:xfrm>
          <a:prstGeom prst="rect">
            <a:avLst/>
          </a:prstGeom>
          <a:solidFill>
            <a:srgbClr val="F8E3E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35624" y="3044951"/>
            <a:ext cx="4690872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300" b="1">
                <a:solidFill>
                  <a:srgbClr val="A33A34"/>
                </a:solidFill>
                <a:latin typeface="Aptos"/>
              </a:defRPr>
            </a:pPr>
            <a:r>
              <a:t>ICC rho = tau^2 / (tau^2 + sigma^2)</a:t>
            </a:r>
            <a:br/>
            <a:r>
              <a:t>center is the correlation and inference unit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486400" y="2084831"/>
            <a:ext cx="347472" cy="384049"/>
          </a:xfrm>
          <a:prstGeom prst="line">
            <a:avLst/>
          </a:prstGeom>
          <a:ln w="21590">
            <a:solidFill>
              <a:srgbClr val="4F1F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02752" y="2084831"/>
            <a:ext cx="384048" cy="0"/>
          </a:xfrm>
          <a:prstGeom prst="line">
            <a:avLst/>
          </a:prstGeom>
          <a:ln w="21590">
            <a:solidFill>
              <a:srgbClr val="4F1F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55279" y="2788920"/>
            <a:ext cx="0" cy="182880"/>
          </a:xfrm>
          <a:prstGeom prst="line">
            <a:avLst/>
          </a:prstGeom>
          <a:ln w="21590">
            <a:solidFill>
              <a:srgbClr val="4F1F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4389120"/>
            <a:ext cx="100584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20" b="1">
                <a:solidFill>
                  <a:srgbClr val="17202A"/>
                </a:solidFill>
                <a:latin typeface="Aptos"/>
              </a:defRPr>
            </a:pPr>
            <a:r>
              <a:t>Why this page matters: point estimates can remain centered near beta_1 while interval coverage fails when residuals are correlated within center.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20" b="0">
                <a:solidFill>
                  <a:srgbClr val="606977"/>
                </a:solidFill>
                <a:latin typeface="Aptos"/>
              </a:defRPr>
            </a:pPr>
            <a:r>
              <a:t>Simulation grid: G=[8, 20, 50], rho=[0.0, 0.1, 0.3, 0.5], imbalance=['balanced', 'imbalanced'], seed=20260822.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89320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40" b="0">
                <a:solidFill>
                  <a:srgbClr val="606977"/>
                </a:solidFill>
                <a:latin typeface="Aptos"/>
              </a:defRPr>
            </a:pPr>
            <a:r>
              <a:t>Reference retrieval: statistical-model query selected inspected pages RRL-044, RRL-007, RRL-008, RRL-043, RRL-042; trace in EVIDENCE_MANIFEST; style not copied.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0525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50" b="1">
                <a:solidFill>
                  <a:srgbClr val="17202A"/>
                </a:solidFill>
                <a:latin typeface="Aptos"/>
              </a:defRPr>
            </a:pPr>
            <a:r>
              <a:t>Cluster sandwich changes the variance object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06977"/>
                </a:solidFill>
                <a:latin typeface="Aptos"/>
              </a:defRPr>
            </a:pPr>
            <a:r>
              <a:t>02/05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6984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20" b="1">
                <a:solidFill>
                  <a:srgbClr val="4F1F68"/>
                </a:solidFill>
                <a:latin typeface="Aptos"/>
              </a:defRPr>
            </a:pPr>
            <a:r>
              <a:t>The center, not the row, becomes the covariance aggregation unit.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69848"/>
            <a:ext cx="105156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9A6A16"/>
                </a:solidFill>
                <a:latin typeface="Aptos"/>
              </a:defRPr>
            </a:pPr>
            <a:r>
              <a:t>Naive iid variance treats rows as independent; cluster sandwich groups score contributions by center.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08760"/>
            <a:ext cx="2834640" cy="1170432"/>
          </a:xfrm>
          <a:prstGeom prst="rect">
            <a:avLst/>
          </a:prstGeom>
          <a:solidFill>
            <a:srgbClr val="F8E3E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54480"/>
            <a:ext cx="2724912" cy="10789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30" b="1">
                <a:solidFill>
                  <a:srgbClr val="A33A34"/>
                </a:solidFill>
                <a:latin typeface="Aptos"/>
              </a:defRPr>
            </a:pPr>
            <a:r>
              <a:t>Naive iid OLS interval</a:t>
            </a:r>
            <a:br/>
            <a:r>
              <a:t>Var(beta_hat) = sigma_hat^2 (X'X)^(-1)</a:t>
            </a:r>
            <a:br/>
            <a:r>
              <a:t>row residuals are pooled one by 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2468880"/>
            <a:ext cx="6355080" cy="713232"/>
          </a:xfrm>
          <a:prstGeom prst="rect">
            <a:avLst/>
          </a:prstGeom>
          <a:solidFill>
            <a:srgbClr val="E5EEF8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2514600"/>
            <a:ext cx="624535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650" b="1">
                <a:solidFill>
                  <a:srgbClr val="1F4E79"/>
                </a:solidFill>
                <a:latin typeface="Aptos"/>
              </a:defRPr>
            </a:pPr>
            <a:r>
              <a:t>V_CR = (X'X)^(-1) [ sum_g X_g' u_g u_g' X_g ] (X'X)^(-1)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80" y="1508760"/>
            <a:ext cx="1874519" cy="1170432"/>
          </a:xfrm>
          <a:prstGeom prst="rect">
            <a:avLst/>
          </a:prstGeom>
          <a:solidFill>
            <a:srgbClr val="E1F4F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0344" y="1554480"/>
            <a:ext cx="1764791" cy="10789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20" b="1">
                <a:solidFill>
                  <a:srgbClr val="0F766E"/>
                </a:solidFill>
                <a:latin typeface="Aptos"/>
              </a:defRPr>
            </a:pPr>
            <a:r>
              <a:t>Center g block</a:t>
            </a:r>
            <a:br/>
            <a:r>
              <a:t>X_g rows + residual vector u_g</a:t>
            </a:r>
            <a:br/>
            <a:r>
              <a:t>aggregated before variance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57600" y="2084831"/>
            <a:ext cx="914400" cy="338329"/>
          </a:xfrm>
          <a:prstGeom prst="line">
            <a:avLst/>
          </a:prstGeom>
          <a:ln w="21590">
            <a:solidFill>
              <a:srgbClr val="4F1F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641080" y="2103120"/>
            <a:ext cx="868680" cy="320040"/>
          </a:xfrm>
          <a:prstGeom prst="line">
            <a:avLst/>
          </a:prstGeom>
          <a:ln w="21590">
            <a:solidFill>
              <a:srgbClr val="4F1F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822191"/>
            <a:ext cx="101498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20" b="1">
                <a:solidFill>
                  <a:srgbClr val="17202A"/>
                </a:solidFill>
                <a:latin typeface="Aptos"/>
              </a:defRPr>
            </a:pPr>
            <a:r>
              <a:t>Key change: the middle term preserves within-center covariance in the score. The current benchmark uses cluster-robust z intervals; small-G correction is reserved for the planned next experiment.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1014984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30" b="0">
                <a:solidFill>
                  <a:srgbClr val="606977"/>
                </a:solidFill>
                <a:latin typeface="Aptos"/>
              </a:defRPr>
            </a:pPr>
            <a:r>
              <a:t>Synthetic method labels: naive_iid_ols_z versus cluster_robust_z. Both estimate the same beta_1; only the interval variance changes.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989320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40" b="0">
                <a:solidFill>
                  <a:srgbClr val="606977"/>
                </a:solidFill>
                <a:latin typeface="Aptos"/>
              </a:defRPr>
            </a:pPr>
            <a:r>
              <a:t>Reference retrieval: estimator/variance query selected inspected pages RRL-040, RRL-009, RRL-028, RRL-030, RRL-015; trace in EVIDENCE_MANIFEST; style not copied.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0525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50" b="1">
                <a:solidFill>
                  <a:srgbClr val="17202A"/>
                </a:solidFill>
                <a:latin typeface="Aptos"/>
              </a:defRPr>
            </a:pPr>
            <a:r>
              <a:t>Simulation design tests interval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06977"/>
                </a:solidFill>
                <a:latin typeface="Aptos"/>
              </a:defRPr>
            </a:pPr>
            <a:r>
              <a:t>03/05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6984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20" b="1">
                <a:solidFill>
                  <a:srgbClr val="4F1F68"/>
                </a:solidFill>
                <a:latin typeface="Aptos"/>
              </a:defRPr>
            </a:pPr>
            <a:r>
              <a:t>DGP knobs flow into two interval methods and one endpoint gate.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84831"/>
            <a:ext cx="2103120" cy="1143000"/>
          </a:xfrm>
          <a:prstGeom prst="rect">
            <a:avLst/>
          </a:prstGeom>
          <a:solidFill>
            <a:srgbClr val="FBF1D6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3" y="2130551"/>
            <a:ext cx="1993391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30" b="1">
                <a:solidFill>
                  <a:srgbClr val="9A6A16"/>
                </a:solidFill>
                <a:latin typeface="Aptos"/>
              </a:defRPr>
            </a:pPr>
            <a:r>
              <a:t>DGP knobs</a:t>
            </a:r>
            <a:br/>
            <a:r>
              <a:t>G: 8 / 20 / 50</a:t>
            </a:r>
            <a:br/>
            <a:r>
              <a:t>rho: 0 / .1 / .3 / .5</a:t>
            </a:r>
            <a:br/>
            <a:r>
              <a:t>cluster imbalance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084831"/>
            <a:ext cx="2057400" cy="1143000"/>
          </a:xfrm>
          <a:prstGeom prst="rect">
            <a:avLst/>
          </a:prstGeom>
          <a:solidFill>
            <a:srgbClr val="E5EEF8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38144" y="2130551"/>
            <a:ext cx="1947672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30" b="1">
                <a:solidFill>
                  <a:srgbClr val="1F4E79"/>
                </a:solidFill>
                <a:latin typeface="Aptos"/>
              </a:defRPr>
            </a:pPr>
            <a:r>
              <a:t>Monte Carlo data</a:t>
            </a:r>
            <a:br/>
            <a:r>
              <a:t>400 replicates per cell</a:t>
            </a:r>
            <a:br/>
            <a:r>
              <a:t>Y_ij, T_ij, center j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517904"/>
            <a:ext cx="2011680" cy="658368"/>
          </a:xfrm>
          <a:prstGeom prst="rect">
            <a:avLst/>
          </a:prstGeom>
          <a:solidFill>
            <a:srgbClr val="F8E3E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35624" y="1563624"/>
            <a:ext cx="1901952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30" b="1">
                <a:solidFill>
                  <a:srgbClr val="A33A34"/>
                </a:solidFill>
                <a:latin typeface="Aptos"/>
              </a:defRPr>
            </a:pPr>
            <a:r>
              <a:t>naive iid OLS z interval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2907792"/>
            <a:ext cx="2011680" cy="749808"/>
          </a:xfrm>
          <a:prstGeom prst="rect">
            <a:avLst/>
          </a:prstGeom>
          <a:solidFill>
            <a:srgbClr val="E1F4F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624" y="2953512"/>
            <a:ext cx="1901952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70" b="1">
                <a:solidFill>
                  <a:srgbClr val="0F766E"/>
                </a:solidFill>
                <a:latin typeface="Aptos"/>
              </a:defRPr>
            </a:pPr>
            <a:r>
              <a:t>cluster-robust z interval</a:t>
            </a:r>
            <a:br/>
            <a:r>
              <a:t>center scores aggregated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2157984"/>
            <a:ext cx="2148840" cy="1078992"/>
          </a:xfrm>
          <a:prstGeom prst="rect">
            <a:avLst/>
          </a:prstGeom>
          <a:solidFill>
            <a:srgbClr val="E5EEF8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24544" y="2203703"/>
            <a:ext cx="2039112" cy="9875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30" b="1">
                <a:solidFill>
                  <a:srgbClr val="1F4E79"/>
                </a:solidFill>
                <a:latin typeface="Aptos"/>
              </a:defRPr>
            </a:pPr>
            <a:r>
              <a:t>Endpoint evaluation</a:t>
            </a:r>
            <a:br/>
            <a:r>
              <a:t>coverage near 0.95</a:t>
            </a:r>
            <a:br/>
            <a:r>
              <a:t>bias and interval width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80360" y="2651760"/>
            <a:ext cx="484632" cy="0"/>
          </a:xfrm>
          <a:prstGeom prst="line">
            <a:avLst/>
          </a:prstGeom>
          <a:ln w="21590">
            <a:solidFill>
              <a:srgbClr val="4F1F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440680" y="1874519"/>
            <a:ext cx="612648" cy="777241"/>
          </a:xfrm>
          <a:prstGeom prst="line">
            <a:avLst/>
          </a:prstGeom>
          <a:ln w="21590">
            <a:solidFill>
              <a:srgbClr val="4F1F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40680" y="2651760"/>
            <a:ext cx="612648" cy="621792"/>
          </a:xfrm>
          <a:prstGeom prst="line">
            <a:avLst/>
          </a:prstGeom>
          <a:ln w="21590">
            <a:solidFill>
              <a:srgbClr val="4F1F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01583" y="1874519"/>
            <a:ext cx="749809" cy="612649"/>
          </a:xfrm>
          <a:prstGeom prst="line">
            <a:avLst/>
          </a:prstGeom>
          <a:ln w="21590">
            <a:solidFill>
              <a:srgbClr val="4F1F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101583" y="2834640"/>
            <a:ext cx="749809" cy="438912"/>
          </a:xfrm>
          <a:prstGeom prst="line">
            <a:avLst/>
          </a:prstGeom>
          <a:ln w="21590">
            <a:solidFill>
              <a:srgbClr val="4F1F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" y="4480560"/>
            <a:ext cx="1014984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60" b="1">
                <a:solidFill>
                  <a:srgbClr val="17202A"/>
                </a:solidFill>
                <a:latin typeface="Aptos"/>
              </a:defRPr>
            </a:pPr>
            <a:r>
              <a:t>Diagram contract: structural connectors, visible arrowheads, left-to-right reading, no edge crossing.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83480"/>
            <a:ext cx="101498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10" b="1">
                <a:solidFill>
                  <a:srgbClr val="9A6A16"/>
                </a:solidFill>
                <a:latin typeface="Aptos"/>
              </a:defRPr>
            </a:pPr>
            <a:r>
              <a:t>Synthetic simulation evidence boundary: this experiment distinguishes interval behavior; it is not a general theorem.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89320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40" b="0">
                <a:solidFill>
                  <a:srgbClr val="606977"/>
                </a:solidFill>
                <a:latin typeface="Aptos"/>
              </a:defRPr>
            </a:pPr>
            <a:r>
              <a:t>Reference retrieval: simulation-design query selected inspected pages RRL-009, RRL-010, RRL-019, RRL-026, RRL-002; trace in EVIDENCE_MANIFEST; style not copied.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0525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50" b="1">
                <a:solidFill>
                  <a:srgbClr val="17202A"/>
                </a:solidFill>
                <a:latin typeface="Aptos"/>
              </a:defRPr>
            </a:pPr>
            <a:r>
              <a:t>Coverage falls when ICC and imbalance 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06977"/>
                </a:solidFill>
                <a:latin typeface="Aptos"/>
              </a:defRPr>
            </a:pPr>
            <a:r>
              <a:t>04/05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6984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20" b="1">
                <a:solidFill>
                  <a:srgbClr val="4F1F68"/>
                </a:solidFill>
                <a:latin typeface="Aptos"/>
              </a:defRPr>
            </a:pPr>
            <a:r>
              <a:t>Coverage near 0.95 is the target; uncertainty must be visible.</a:t>
            </a:r>
          </a:p>
        </p:txBody>
      </p:sp>
      <p:pic>
        <p:nvPicPr>
          <p:cNvPr id="6" name="Picture 5" descr="coverage_by_i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7909560" cy="4088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732520" y="1325880"/>
            <a:ext cx="2651760" cy="1078992"/>
          </a:xfrm>
          <a:prstGeom prst="rect">
            <a:avLst/>
          </a:prstGeom>
          <a:solidFill>
            <a:srgbClr val="FBF1D6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87384" y="1371600"/>
            <a:ext cx="2542032" cy="9875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40" b="1">
                <a:solidFill>
                  <a:srgbClr val="9A6A16"/>
                </a:solidFill>
                <a:latin typeface="Aptos"/>
              </a:defRPr>
            </a:pPr>
            <a:r>
              <a:t>Reading target</a:t>
            </a:r>
            <a:br/>
            <a:r>
              <a:t>Coverage close to nominal 0.95 is the goal.</a:t>
            </a:r>
            <a:br/>
            <a:r>
              <a:t>Above or below nominal is not automatically better.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732520" y="2788920"/>
            <a:ext cx="2651760" cy="1261872"/>
          </a:xfrm>
          <a:prstGeom prst="rect">
            <a:avLst/>
          </a:prstGeom>
          <a:solidFill>
            <a:srgbClr val="E1F4F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87384" y="2834639"/>
            <a:ext cx="2542032" cy="11704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40" b="1">
                <a:solidFill>
                  <a:srgbClr val="0F766E"/>
                </a:solidFill>
                <a:latin typeface="Aptos"/>
              </a:defRPr>
            </a:pPr>
            <a:r>
              <a:t>Observed in this synthetic run</a:t>
            </a:r>
            <a:br/>
            <a:r>
              <a:t>G=8, rho=.5, imbalanced:</a:t>
            </a:r>
            <a:br/>
            <a:r>
              <a:t>naive=0.52</a:t>
            </a:r>
            <a:br/>
            <a:r>
              <a:t>cluster=0.78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76088"/>
            <a:ext cx="100584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80" b="1">
                <a:solidFill>
                  <a:srgbClr val="17202A"/>
                </a:solidFill>
                <a:latin typeface="Aptos"/>
              </a:defRPr>
            </a:pPr>
            <a:r>
              <a:t>Conclusion limited to this simulation: cluster-robust intervals repair much of the iid undercoverage, but finite-center stress remains visible.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87568"/>
            <a:ext cx="100584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60" b="1">
                <a:solidFill>
                  <a:srgbClr val="9A6A16"/>
                </a:solidFill>
                <a:latin typeface="Aptos"/>
              </a:defRPr>
            </a:pPr>
            <a:r>
              <a:t>Synthetic simulation evidence boundary; error bars are Monte Carlo uncertainty from deterministic simulation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053328"/>
            <a:ext cx="10241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40" b="0">
                <a:solidFill>
                  <a:srgbClr val="606977"/>
                </a:solidFill>
                <a:latin typeface="Aptos"/>
              </a:defRPr>
            </a:pPr>
            <a:r>
              <a:t>Reference retrieval: coverage-result query selected inspected pages RRL-030, RRL-033, RRL-010, RRL-023, RRL-039; trace in EVIDENCE_MANIFEST; style not copied.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0525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50" b="1">
                <a:solidFill>
                  <a:srgbClr val="17202A"/>
                </a:solidFill>
                <a:latin typeface="Aptos"/>
              </a:defRPr>
            </a:pPr>
            <a:r>
              <a:t>Small-G stress remains the negative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06977"/>
                </a:solidFill>
                <a:latin typeface="Aptos"/>
              </a:defRPr>
            </a:pPr>
            <a:r>
              <a:t>05/05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6984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20" b="1">
                <a:solidFill>
                  <a:srgbClr val="4F1F68"/>
                </a:solidFill>
                <a:latin typeface="Aptos"/>
              </a:defRPr>
            </a:pPr>
            <a:r>
              <a:t>The next experiment must test finite-center corrections.</a:t>
            </a:r>
          </a:p>
        </p:txBody>
      </p:sp>
      <p:pic>
        <p:nvPicPr>
          <p:cNvPr id="6" name="Picture 5" descr="small_g_negativ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61872"/>
            <a:ext cx="6126480" cy="268814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0" y="1353312"/>
            <a:ext cx="3246120" cy="1078992"/>
          </a:xfrm>
          <a:prstGeom prst="rect">
            <a:avLst/>
          </a:prstGeom>
          <a:solidFill>
            <a:srgbClr val="F8E3E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70064" y="1399032"/>
            <a:ext cx="3136391" cy="9875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70" b="1">
                <a:solidFill>
                  <a:srgbClr val="A33A34"/>
                </a:solidFill>
                <a:latin typeface="Aptos"/>
              </a:defRPr>
            </a:pPr>
            <a:r>
              <a:t>Negative result</a:t>
            </a:r>
            <a:br/>
            <a:r>
              <a:t>G=8, rho=0.5, imbalanced cluster sizes and treatment shares</a:t>
            </a:r>
            <a:br/>
            <a:r>
              <a:t>cluster-robust z coverage = 0.78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788920"/>
            <a:ext cx="3246120" cy="1005840"/>
          </a:xfrm>
          <a:prstGeom prst="rect">
            <a:avLst/>
          </a:prstGeom>
          <a:solidFill>
            <a:srgbClr val="FBF1D6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70064" y="2834639"/>
            <a:ext cx="3136391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40" b="1">
                <a:solidFill>
                  <a:srgbClr val="9A6A16"/>
                </a:solidFill>
                <a:latin typeface="Aptos"/>
              </a:defRPr>
            </a:pPr>
            <a:r>
              <a:t>Failure mechanism</a:t>
            </a:r>
            <a:br/>
            <a:r>
              <a:t>Few independent centers make the sandwich variance noisy; imbalance amplifies center-level leverage.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4169663"/>
            <a:ext cx="3246120" cy="1097280"/>
          </a:xfrm>
          <a:prstGeom prst="rect">
            <a:avLst/>
          </a:prstGeom>
          <a:solidFill>
            <a:srgbClr val="E1F4F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0064" y="4215383"/>
            <a:ext cx="3136391" cy="10058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20" b="1">
                <a:solidFill>
                  <a:srgbClr val="0F766E"/>
                </a:solidFill>
                <a:latin typeface="Aptos"/>
              </a:defRPr>
            </a:pPr>
            <a:r>
              <a:t>Next experiment is planned, not completed</a:t>
            </a:r>
            <a:br/>
            <a:r>
              <a:t>Compare CR2 small-sample correction and wild cluster bootstrap on the same grid.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577840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20" b="1">
                <a:solidFill>
                  <a:srgbClr val="17202A"/>
                </a:solidFill>
                <a:latin typeface="Aptos"/>
              </a:defRPr>
            </a:pPr>
            <a:r>
              <a:t>This page uses completed synthetic evidence only for the failure diagnosis; the proposed correction methods are explicitly future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053328"/>
            <a:ext cx="10241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40" b="0">
                <a:solidFill>
                  <a:srgbClr val="606977"/>
                </a:solidFill>
                <a:latin typeface="Aptos"/>
              </a:defRPr>
            </a:pPr>
            <a:r>
              <a:t>Reference retrieval: negative-result query selected inspected pages RRL-011, RRL-024, RRL-025, RRL-041, RRL-005; trace in EVIDENCE_MANIFEST; style not copied.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