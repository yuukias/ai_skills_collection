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686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1">
                <a:solidFill>
                  <a:srgbClr val="17202A"/>
                </a:solidFill>
                <a:latin typeface="Aptos"/>
              </a:defRPr>
            </a:pPr>
            <a:r>
              <a:t>Endpoint Choice Changes the Method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01/04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40" b="1">
                <a:solidFill>
                  <a:srgbClr val="4F1F68"/>
                </a:solidFill>
                <a:latin typeface="Aptos"/>
              </a:defRPr>
            </a:pPr>
            <a:r>
              <a:t>The method story changes when the endpoint changes.</a:t>
            </a:r>
          </a:p>
        </p:txBody>
      </p:sp>
      <p:pic>
        <p:nvPicPr>
          <p:cNvPr id="6" name="Picture 5" descr="endpoint_rank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98448"/>
            <a:ext cx="7132320" cy="349887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68680" y="1106424"/>
            <a:ext cx="6766560" cy="256032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152144"/>
            <a:ext cx="6656832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860" b="1">
                <a:solidFill>
                  <a:srgbClr val="9A6A16"/>
                </a:solidFill>
                <a:latin typeface="Aptos"/>
              </a:defRPr>
            </a:pPr>
            <a:r>
              <a:t>Evidence boundary: illustrative synthetic results - not completed 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81328"/>
            <a:ext cx="2971800" cy="1481328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527048"/>
            <a:ext cx="2862072" cy="138988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10" b="1">
                <a:solidFill>
                  <a:srgbClr val="0F766E"/>
                </a:solidFill>
                <a:latin typeface="Aptos"/>
              </a:defRPr>
            </a:pPr>
            <a:r>
              <a:t>Interpretation</a:t>
            </a:r>
            <a:br/>
            <a:r>
              <a:t>In this synthetic example, Calibrated wins recall; burden error is lower-is-better and lowest for Calibrated.</a:t>
            </a:r>
            <a:br/>
            <a:r>
              <a:t>Baseline wins Dice only.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3337560"/>
            <a:ext cx="2971800" cy="91440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3383279"/>
            <a:ext cx="2862072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20" b="1">
                <a:solidFill>
                  <a:srgbClr val="9A6A16"/>
                </a:solidFill>
                <a:latin typeface="Aptos"/>
              </a:defRPr>
            </a:pPr>
            <a:r>
              <a:t>Meeting decision</a:t>
            </a:r>
            <a:br/>
            <a:r>
              <a:t>Freeze endpoint priority before ranking methods.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result/interval query selected inspected pages RRL-015, RRL-021, RRL-030, RRL-016, RRL-023; trace in EVIDENCE_MANIFEST; style not copied.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686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1">
                <a:solidFill>
                  <a:srgbClr val="17202A"/>
                </a:solidFill>
                <a:latin typeface="Aptos"/>
              </a:defRPr>
            </a:pPr>
            <a:r>
              <a:t>Average Dice Can Hide the Hard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02/04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40" b="1">
                <a:solidFill>
                  <a:srgbClr val="4F1F68"/>
                </a:solidFill>
                <a:latin typeface="Aptos"/>
              </a:defRPr>
            </a:pPr>
            <a:r>
              <a:t>A case page binds image, GT, prediction, error overlay, and metric.</a:t>
            </a:r>
          </a:p>
        </p:txBody>
      </p:sp>
      <p:pic>
        <p:nvPicPr>
          <p:cNvPr id="6" name="Picture 5" descr="synthetic_segmentation_phan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61872"/>
            <a:ext cx="10835640" cy="448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41080" y="4462272"/>
            <a:ext cx="10972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19" b="1">
                <a:solidFill>
                  <a:srgbClr val="606977"/>
                </a:solidFill>
                <a:latin typeface="Aptos"/>
              </a:defRPr>
            </a:pPr>
            <a:r>
              <a:t>Overlay legend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4645152"/>
            <a:ext cx="109728" cy="10972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4626864"/>
            <a:ext cx="13258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19" b="0">
                <a:solidFill>
                  <a:srgbClr val="17202A"/>
                </a:solidFill>
                <a:latin typeface="Aptos"/>
              </a:defRPr>
            </a:pPr>
            <a:r>
              <a:t>green = TP/overlap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4645152"/>
            <a:ext cx="109728" cy="109728"/>
          </a:xfrm>
          <a:prstGeom prst="rect">
            <a:avLst/>
          </a:prstGeom>
          <a:solidFill>
            <a:srgbClr val="A33A34"/>
          </a:solidFill>
          <a:ln w="6350">
            <a:solidFill>
              <a:srgbClr val="A33A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95560" y="4626864"/>
            <a:ext cx="640080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19" b="0">
                <a:solidFill>
                  <a:srgbClr val="17202A"/>
                </a:solidFill>
                <a:latin typeface="Aptos"/>
              </a:defRPr>
            </a:pPr>
            <a:r>
              <a:t>red = FP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35640" y="4645152"/>
            <a:ext cx="109728" cy="109728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4626864"/>
            <a:ext cx="713232" cy="14630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19" b="0">
                <a:solidFill>
                  <a:srgbClr val="17202A"/>
                </a:solidFill>
                <a:latin typeface="Aptos"/>
              </a:defRPr>
            </a:pPr>
            <a:r>
              <a:t>blue = FN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24128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17202A"/>
                </a:solidFill>
                <a:latin typeface="Aptos"/>
              </a:defRPr>
            </a:pPr>
            <a:r>
              <a:t>Scientific object: same synthetic case, aligned GT/prediction/error overlay, case metric next to visual.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144768"/>
            <a:ext cx="102412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failure-case query selected inspected pages RRL-022, RRL-024, RRL-018, RRL-013, RRL-025; trace in EVIDENCE_MANIFEST; style not copied.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686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1">
                <a:solidFill>
                  <a:srgbClr val="17202A"/>
                </a:solidFill>
                <a:latin typeface="Aptos"/>
              </a:defRPr>
            </a:pPr>
            <a:r>
              <a:t>Limited-Information Multi-Center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03/04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40" b="1">
                <a:solidFill>
                  <a:srgbClr val="4F1F68"/>
                </a:solidFill>
                <a:latin typeface="Aptos"/>
              </a:defRPr>
            </a:pPr>
            <a:r>
              <a:t>Raw data stay local; shared summaries are judged by endpoint-level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2514600" cy="713232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371600"/>
            <a:ext cx="240487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0F766E"/>
                </a:solidFill>
                <a:latin typeface="Aptos"/>
              </a:defRPr>
            </a:pPr>
            <a:r>
              <a:t>Center A</a:t>
            </a:r>
            <a:br/>
            <a:r>
              <a:t>local image + local label</a:t>
            </a:r>
            <a:br/>
            <a:r>
              <a:t>experimental unit: lesion-case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371600"/>
            <a:ext cx="1508760" cy="59436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417320"/>
            <a:ext cx="1399031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30" b="1">
                <a:solidFill>
                  <a:srgbClr val="1F4E79"/>
                </a:solidFill>
                <a:latin typeface="Aptos"/>
              </a:defRPr>
            </a:pPr>
            <a:r>
              <a:t>local estimator</a:t>
            </a:r>
            <a:br/>
            <a:r>
              <a:t>calibration score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1682496"/>
            <a:ext cx="246888" cy="0"/>
          </a:xfrm>
          <a:prstGeom prst="line">
            <a:avLst/>
          </a:prstGeom>
          <a:ln w="2032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74920" y="1682496"/>
            <a:ext cx="521208" cy="987552"/>
          </a:xfrm>
          <a:prstGeom prst="line">
            <a:avLst/>
          </a:prstGeom>
          <a:ln w="1778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74920" y="1682496"/>
            <a:ext cx="2679192" cy="1773936"/>
          </a:xfrm>
          <a:prstGeom prst="line">
            <a:avLst/>
          </a:prstGeom>
          <a:ln w="13970">
            <a:solidFill>
              <a:srgbClr val="60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2286000"/>
            <a:ext cx="2514600" cy="713232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31720"/>
            <a:ext cx="240487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0F766E"/>
                </a:solidFill>
                <a:latin typeface="Aptos"/>
              </a:defRPr>
            </a:pPr>
            <a:r>
              <a:t>Center B</a:t>
            </a:r>
            <a:br/>
            <a:r>
              <a:t>local image + local label</a:t>
            </a:r>
            <a:br/>
            <a:r>
              <a:t>experimental unit: lesion-case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331720"/>
            <a:ext cx="1508760" cy="59436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2377439"/>
            <a:ext cx="1399031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30" b="1">
                <a:solidFill>
                  <a:srgbClr val="1F4E79"/>
                </a:solidFill>
                <a:latin typeface="Aptos"/>
              </a:defRPr>
            </a:pPr>
            <a:r>
              <a:t>local estimator</a:t>
            </a:r>
            <a:br/>
            <a:r>
              <a:t>calibration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6120" y="2642616"/>
            <a:ext cx="246888" cy="0"/>
          </a:xfrm>
          <a:prstGeom prst="line">
            <a:avLst/>
          </a:prstGeom>
          <a:ln w="2032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74920" y="2642616"/>
            <a:ext cx="521208" cy="27432"/>
          </a:xfrm>
          <a:prstGeom prst="line">
            <a:avLst/>
          </a:prstGeom>
          <a:ln w="1778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74920" y="2642616"/>
            <a:ext cx="2679192" cy="813816"/>
          </a:xfrm>
          <a:prstGeom prst="line">
            <a:avLst/>
          </a:prstGeom>
          <a:ln w="13970">
            <a:solidFill>
              <a:srgbClr val="60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85800" y="3246120"/>
            <a:ext cx="2514600" cy="713232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291839"/>
            <a:ext cx="2404872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0F766E"/>
                </a:solidFill>
                <a:latin typeface="Aptos"/>
              </a:defRPr>
            </a:pPr>
            <a:r>
              <a:t>Center C</a:t>
            </a:r>
            <a:br/>
            <a:r>
              <a:t>local image + local label</a:t>
            </a:r>
            <a:br/>
            <a:r>
              <a:t>experimental unit: lesion-case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291840"/>
            <a:ext cx="1508760" cy="59436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75304" y="3337560"/>
            <a:ext cx="1399031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30" b="1">
                <a:solidFill>
                  <a:srgbClr val="1F4E79"/>
                </a:solidFill>
                <a:latin typeface="Aptos"/>
              </a:defRPr>
            </a:pPr>
            <a:r>
              <a:t>local estimator</a:t>
            </a:r>
            <a:br/>
            <a:r>
              <a:t>calibration score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6120" y="3602736"/>
            <a:ext cx="246888" cy="0"/>
          </a:xfrm>
          <a:prstGeom prst="line">
            <a:avLst/>
          </a:prstGeom>
          <a:ln w="2032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74920" y="2670048"/>
            <a:ext cx="521208" cy="932688"/>
          </a:xfrm>
          <a:prstGeom prst="line">
            <a:avLst/>
          </a:prstGeom>
          <a:ln w="1778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74920" y="3456432"/>
            <a:ext cx="2679192" cy="146304"/>
          </a:xfrm>
          <a:prstGeom prst="line">
            <a:avLst/>
          </a:prstGeom>
          <a:ln w="13970">
            <a:solidFill>
              <a:srgbClr val="60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577840" y="2176272"/>
            <a:ext cx="1874519" cy="114300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3" y="2221991"/>
            <a:ext cx="1764791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70" b="1">
                <a:solidFill>
                  <a:srgbClr val="9A6A16"/>
                </a:solidFill>
                <a:latin typeface="Aptos"/>
              </a:defRPr>
            </a:pPr>
            <a:r>
              <a:t>Transmitted</a:t>
            </a:r>
            <a:br/>
            <a:r>
              <a:t>likelihood / score / summary update</a:t>
            </a:r>
            <a:br/>
            <a:r>
              <a:t>(raw images stay local)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498079" y="2057400"/>
            <a:ext cx="256033" cy="612648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790688" y="1664208"/>
            <a:ext cx="1874519" cy="786384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1709928"/>
            <a:ext cx="1764791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70" b="1">
                <a:solidFill>
                  <a:srgbClr val="1F4E79"/>
                </a:solidFill>
                <a:latin typeface="Aptos"/>
              </a:defRPr>
            </a:pPr>
            <a:r>
              <a:t>Global estimator</a:t>
            </a:r>
            <a:br/>
            <a:r>
              <a:t>summary-sharing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0688" y="3035808"/>
            <a:ext cx="1874519" cy="786384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3081527"/>
            <a:ext cx="1764791" cy="6949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70" b="1">
                <a:solidFill>
                  <a:srgbClr val="0F766E"/>
                </a:solidFill>
                <a:latin typeface="Aptos"/>
              </a:defRPr>
            </a:pPr>
            <a:r>
              <a:t>Local-only comparator</a:t>
            </a:r>
            <a:br/>
            <a:r>
              <a:t>no shared summaries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12680" y="2331720"/>
            <a:ext cx="1783080" cy="1051560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67544" y="2377439"/>
            <a:ext cx="1673352" cy="96011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40" b="1">
                <a:solidFill>
                  <a:srgbClr val="A33A34"/>
                </a:solidFill>
                <a:latin typeface="Aptos"/>
              </a:defRPr>
            </a:pPr>
            <a:r>
              <a:t>Endpoint evaluation</a:t>
            </a:r>
            <a:br/>
            <a:r>
              <a:t>lesion recall + burden error</a:t>
            </a:r>
            <a:br/>
            <a:r>
              <a:t>worst-center gap &lt; 5%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10928" y="2057400"/>
            <a:ext cx="274320" cy="685800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710928" y="2999232"/>
            <a:ext cx="274320" cy="457200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68680" y="5257800"/>
            <a:ext cx="1033272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20" b="1">
                <a:solidFill>
                  <a:srgbClr val="17202A"/>
                </a:solidFill>
                <a:latin typeface="Aptos"/>
              </a:defRPr>
            </a:pPr>
            <a:r>
              <a:t>Comparator path: local-only uses the same local scores without summary sharing; both branches enter the same endpoint gate.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method/design query selected inspected pages RRL-002, RRL-008, RRL-019, RRL-005, RRL-009; trace in EVIDENCE_MANIFEST; style not copied.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F1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686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2100" b="1">
                <a:solidFill>
                  <a:srgbClr val="17202A"/>
                </a:solidFill>
                <a:latin typeface="Aptos"/>
              </a:defRPr>
            </a:pPr>
            <a:r>
              <a:t>AI Phenotype Error Changes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384048"/>
            <a:ext cx="8686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606977"/>
                </a:solidFill>
                <a:latin typeface="Aptos"/>
              </a:defRPr>
            </a:pPr>
            <a:r>
              <a:t>04/04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04672"/>
            <a:ext cx="106984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40" b="1">
                <a:solidFill>
                  <a:srgbClr val="4F1F68"/>
                </a:solidFill>
                <a:latin typeface="Aptos"/>
              </a:defRPr>
            </a:pPr>
            <a:r>
              <a:t>Segmentation output is a measured variable whose error can attenuate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2860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200" b="1">
                <a:solidFill>
                  <a:srgbClr val="606977"/>
                </a:solidFill>
                <a:latin typeface="Aptos"/>
              </a:defRPr>
            </a:pPr>
            <a:r>
              <a:t>Target estimand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651760" cy="914400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45920"/>
            <a:ext cx="2542032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0F766E"/>
                </a:solidFill>
                <a:latin typeface="Aptos"/>
              </a:defRPr>
            </a:pPr>
            <a:r>
              <a:t>beta1: effect of true lesion burden T_i</a:t>
            </a:r>
            <a:br/>
            <a:r>
              <a:t>on downstream outcome Y_i</a:t>
            </a:r>
          </a:p>
        </p:txBody>
      </p:sp>
      <p:sp>
        <p:nvSpPr>
          <p:cNvPr id="9" name="Rectangle 8"/>
          <p:cNvSpPr/>
          <p:nvPr/>
        </p:nvSpPr>
        <p:spPr>
          <a:xfrm>
            <a:off x="3794760" y="1600200"/>
            <a:ext cx="2468880" cy="914400"/>
          </a:xfrm>
          <a:prstGeom prst="rect">
            <a:avLst/>
          </a:prstGeom>
          <a:solidFill>
            <a:srgbClr val="FBF1D6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9624" y="1645920"/>
            <a:ext cx="2359152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9A6A16"/>
                </a:solidFill>
                <a:latin typeface="Aptos"/>
              </a:defRPr>
            </a:pPr>
            <a:r>
              <a:t>Observed AI phenotype</a:t>
            </a:r>
            <a:br/>
            <a:r>
              <a:t>M_i = T_i + U_i</a:t>
            </a:r>
            <a:br/>
            <a:r>
              <a:t>error varies by center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600200"/>
            <a:ext cx="2468880" cy="914400"/>
          </a:xfrm>
          <a:prstGeom prst="rect">
            <a:avLst/>
          </a:prstGeom>
          <a:solidFill>
            <a:srgbClr val="E5EEF8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4264" y="1645920"/>
            <a:ext cx="2359152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120" b="1">
                <a:solidFill>
                  <a:srgbClr val="1F4E79"/>
                </a:solidFill>
                <a:latin typeface="Aptos"/>
              </a:defRPr>
            </a:pPr>
            <a:r>
              <a:t>Validation subset</a:t>
            </a:r>
            <a:br/>
            <a:r>
              <a:t>observe both T_i and M_i</a:t>
            </a:r>
            <a:br/>
            <a:r>
              <a:t>estimate calibration 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600200"/>
            <a:ext cx="2331720" cy="914400"/>
          </a:xfrm>
          <a:prstGeom prst="rect">
            <a:avLst/>
          </a:prstGeom>
          <a:solidFill>
            <a:srgbClr val="F8E3E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645920"/>
            <a:ext cx="2221991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060" b="1">
                <a:solidFill>
                  <a:srgbClr val="A33A34"/>
                </a:solidFill>
                <a:latin typeface="Aptos"/>
              </a:defRPr>
            </a:pPr>
            <a:r>
              <a:t>Inference target</a:t>
            </a:r>
            <a:br/>
            <a:r>
              <a:t>Y_i = beta0 + beta1 T_i + eps_i</a:t>
            </a:r>
            <a:br/>
            <a:r>
              <a:t>naive M_i attenuates beta1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20440" y="2057400"/>
            <a:ext cx="228599" cy="0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309360" y="2057400"/>
            <a:ext cx="228600" cy="0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98280" y="2057400"/>
            <a:ext cx="228600" cy="0"/>
          </a:xfrm>
          <a:prstGeom prst="line">
            <a:avLst/>
          </a:prstGeom>
          <a:ln w="22860">
            <a:solidFill>
              <a:srgbClr val="4F1F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32461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1300" b="1">
                <a:solidFill>
                  <a:srgbClr val="17202A"/>
                </a:solidFill>
                <a:latin typeface="Aptos"/>
              </a:defRPr>
            </a:pPr>
            <a:r>
              <a:t>Toy calibration: E[T|M,center] = alpha_center + gamma_center M. Report beta1 after validation-calibrated correction, not a raw AI burden coefficient.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4251960"/>
            <a:ext cx="7589520" cy="868680"/>
          </a:xfrm>
          <a:prstGeom prst="rect">
            <a:avLst/>
          </a:prstGeom>
          <a:solidFill>
            <a:srgbClr val="E1F4F1"/>
          </a:solidFill>
          <a:ln w="12700">
            <a:solidFill>
              <a:srgbClr val="C6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0864" y="4297680"/>
            <a:ext cx="7479792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220" b="1">
                <a:solidFill>
                  <a:srgbClr val="0F766E"/>
                </a:solidFill>
                <a:latin typeface="Aptos"/>
              </a:defRPr>
            </a:pPr>
            <a:r>
              <a:t>Evidence boundary</a:t>
            </a:r>
            <a:br/>
            <a:r>
              <a:t>This page is a generated-variable inference mechanism,</a:t>
            </a:r>
            <a:br/>
            <a:r>
              <a:t>not completed clinical validity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defRPr sz="840" b="0">
                <a:solidFill>
                  <a:srgbClr val="606977"/>
                </a:solidFill>
                <a:latin typeface="Aptos"/>
              </a:defRPr>
            </a:pPr>
            <a:r>
              <a:t>Reference retrieval: estimator/model query selected inspected pages RRL-044, RRL-027, RRL-020, RRL-028, RRL-007; trace in EVIDENCE_MANIFEST; style not copied.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