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F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8686800" cy="32918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2100" b="1">
                <a:solidFill>
                  <a:srgbClr val="17202A"/>
                </a:solidFill>
                <a:latin typeface="Aptos"/>
              </a:defRPr>
            </a:pPr>
            <a:r>
              <a:t>Endpoint Choice Changes the Method Ranking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384048"/>
            <a:ext cx="868680" cy="2011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defRPr sz="900" b="0">
                <a:solidFill>
                  <a:srgbClr val="606977"/>
                </a:solidFill>
                <a:latin typeface="Aptos"/>
              </a:defRPr>
            </a:pPr>
            <a:r>
              <a:t>01/04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04672"/>
            <a:ext cx="10698480" cy="31089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1240" b="1">
                <a:solidFill>
                  <a:srgbClr val="4F1F68"/>
                </a:solidFill>
                <a:latin typeface="Aptos"/>
              </a:defRPr>
            </a:pPr>
            <a:r>
              <a:t>The method story changes when the endpoint changes.</a:t>
            </a:r>
          </a:p>
        </p:txBody>
      </p:sp>
      <p:pic>
        <p:nvPicPr>
          <p:cNvPr id="6" name="Picture 5" descr="endpoint_ranking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1298448"/>
            <a:ext cx="7132320" cy="3498874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8229600" y="1600200"/>
            <a:ext cx="2971800" cy="1188720"/>
          </a:xfrm>
          <a:prstGeom prst="rect">
            <a:avLst/>
          </a:prstGeom>
          <a:solidFill>
            <a:srgbClr val="E1F4F1"/>
          </a:solidFill>
          <a:ln w="12700">
            <a:solidFill>
              <a:srgbClr val="C6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84464" y="1645920"/>
            <a:ext cx="2862072" cy="10972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defRPr sz="1220" b="1">
                <a:solidFill>
                  <a:srgbClr val="0F766E"/>
                </a:solidFill>
                <a:latin typeface="Aptos"/>
              </a:defRPr>
            </a:pPr>
            <a:r>
              <a:t>Interpretation</a:t>
            </a:r>
            <a:br/>
            <a:r>
              <a:t>Calibrated wins recall and burden error;</a:t>
            </a:r>
            <a:br/>
            <a:r>
              <a:t>Baseline wins Dice only.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0" y="3337560"/>
            <a:ext cx="2971800" cy="914400"/>
          </a:xfrm>
          <a:prstGeom prst="rect">
            <a:avLst/>
          </a:prstGeom>
          <a:solidFill>
            <a:srgbClr val="FBF1D6"/>
          </a:solidFill>
          <a:ln w="12700">
            <a:solidFill>
              <a:srgbClr val="C6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84464" y="3383279"/>
            <a:ext cx="2862072" cy="8229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defRPr sz="1220" b="1">
                <a:solidFill>
                  <a:srgbClr val="9A6A16"/>
                </a:solidFill>
                <a:latin typeface="Aptos"/>
              </a:defRPr>
            </a:pPr>
            <a:r>
              <a:t>Meeting decision</a:t>
            </a:r>
            <a:br/>
            <a:r>
              <a:t>Freeze endpoint priority before ranking methods.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5989320"/>
            <a:ext cx="10241280" cy="3200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840" b="0">
                <a:solidFill>
                  <a:srgbClr val="606977"/>
                </a:solidFill>
                <a:latin typeface="Aptos"/>
              </a:defRPr>
            </a:pPr>
            <a:r>
              <a:t>Reference retrieval: result/interval query selected inspected pages RRL-015, RRL-021, RRL-030, RRL-016, RRL-023; trace in EVIDENCE_MANIFEST; style not copied.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F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8686800" cy="32918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2100" b="1">
                <a:solidFill>
                  <a:srgbClr val="17202A"/>
                </a:solidFill>
                <a:latin typeface="Aptos"/>
              </a:defRPr>
            </a:pPr>
            <a:r>
              <a:t>Average Dice Can Hide the Hard Case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384048"/>
            <a:ext cx="868680" cy="2011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defRPr sz="900" b="0">
                <a:solidFill>
                  <a:srgbClr val="606977"/>
                </a:solidFill>
                <a:latin typeface="Aptos"/>
              </a:defRPr>
            </a:pPr>
            <a:r>
              <a:t>02/04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04672"/>
            <a:ext cx="10698480" cy="31089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1240" b="1">
                <a:solidFill>
                  <a:srgbClr val="4F1F68"/>
                </a:solidFill>
                <a:latin typeface="Aptos"/>
              </a:defRPr>
            </a:pPr>
            <a:r>
              <a:t>A case page binds image, GT, prediction, error overlay, and metric.</a:t>
            </a:r>
          </a:p>
        </p:txBody>
      </p:sp>
      <p:pic>
        <p:nvPicPr>
          <p:cNvPr id="6" name="Picture 5" descr="synthetic_segmentation_phanto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261872"/>
            <a:ext cx="10835640" cy="44801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68680" y="5806440"/>
            <a:ext cx="10241280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1220" b="1">
                <a:solidFill>
                  <a:srgbClr val="17202A"/>
                </a:solidFill>
                <a:latin typeface="Aptos"/>
              </a:defRPr>
            </a:pPr>
            <a:r>
              <a:t>Scientific object: same synthetic case, aligned GT/prediction/error overlay, case metric next to visual.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6144768"/>
            <a:ext cx="1024128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840" b="0">
                <a:solidFill>
                  <a:srgbClr val="606977"/>
                </a:solidFill>
                <a:latin typeface="Aptos"/>
              </a:defRPr>
            </a:pPr>
            <a:r>
              <a:t>Reference retrieval: failure-case query selected inspected pages RRL-022, RRL-024, RRL-018, RRL-013, RRL-025; trace in EVIDENCE_MANIFEST; style not copied.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F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8686800" cy="32918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2100" b="1">
                <a:solidFill>
                  <a:srgbClr val="17202A"/>
                </a:solidFill>
                <a:latin typeface="Aptos"/>
              </a:defRPr>
            </a:pPr>
            <a:r>
              <a:t>Limited-Information Multi-Center Experiment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384048"/>
            <a:ext cx="868680" cy="2011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defRPr sz="900" b="0">
                <a:solidFill>
                  <a:srgbClr val="606977"/>
                </a:solidFill>
                <a:latin typeface="Aptos"/>
              </a:defRPr>
            </a:pPr>
            <a:r>
              <a:t>03/04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04672"/>
            <a:ext cx="10698480" cy="31089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1240" b="1">
                <a:solidFill>
                  <a:srgbClr val="4F1F68"/>
                </a:solidFill>
                <a:latin typeface="Aptos"/>
              </a:defRPr>
            </a:pPr>
            <a:r>
              <a:t>Raw data stay local; shared summaries are judged by endpoint-level evidence.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325880"/>
            <a:ext cx="2514600" cy="713232"/>
          </a:xfrm>
          <a:prstGeom prst="rect">
            <a:avLst/>
          </a:prstGeom>
          <a:solidFill>
            <a:srgbClr val="E1F4F1"/>
          </a:solidFill>
          <a:ln w="12700">
            <a:solidFill>
              <a:srgbClr val="C6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0664" y="1371600"/>
            <a:ext cx="2404872" cy="6217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defRPr sz="1060" b="1">
                <a:solidFill>
                  <a:srgbClr val="0F766E"/>
                </a:solidFill>
                <a:latin typeface="Aptos"/>
              </a:defRPr>
            </a:pPr>
            <a:r>
              <a:t>Center A</a:t>
            </a:r>
            <a:br/>
            <a:r>
              <a:t>local image + local label</a:t>
            </a:r>
            <a:br/>
            <a:r>
              <a:t>experimental unit: lesion-case</a:t>
            </a:r>
          </a:p>
        </p:txBody>
      </p:sp>
      <p:sp>
        <p:nvSpPr>
          <p:cNvPr id="8" name="Rectangle 7"/>
          <p:cNvSpPr/>
          <p:nvPr/>
        </p:nvSpPr>
        <p:spPr>
          <a:xfrm>
            <a:off x="3520440" y="1371600"/>
            <a:ext cx="1508760" cy="594360"/>
          </a:xfrm>
          <a:prstGeom prst="rect">
            <a:avLst/>
          </a:prstGeom>
          <a:solidFill>
            <a:srgbClr val="E5EEF8"/>
          </a:solidFill>
          <a:ln w="12700">
            <a:solidFill>
              <a:srgbClr val="C6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75304" y="1417320"/>
            <a:ext cx="1399031" cy="5029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defRPr sz="1030" b="1">
                <a:solidFill>
                  <a:srgbClr val="1F4E79"/>
                </a:solidFill>
                <a:latin typeface="Aptos"/>
              </a:defRPr>
            </a:pPr>
            <a:r>
              <a:t>local estimator</a:t>
            </a:r>
            <a:br/>
            <a:r>
              <a:t>calibration score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246120" y="1682496"/>
            <a:ext cx="246888" cy="0"/>
          </a:xfrm>
          <a:prstGeom prst="line">
            <a:avLst/>
          </a:prstGeom>
          <a:ln w="20320">
            <a:solidFill>
              <a:srgbClr val="4F1F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5074920" y="1682496"/>
            <a:ext cx="685800" cy="1060704"/>
          </a:xfrm>
          <a:prstGeom prst="line">
            <a:avLst/>
          </a:prstGeom>
          <a:ln w="17780">
            <a:solidFill>
              <a:srgbClr val="4F1F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685800" y="2286000"/>
            <a:ext cx="2514600" cy="713232"/>
          </a:xfrm>
          <a:prstGeom prst="rect">
            <a:avLst/>
          </a:prstGeom>
          <a:solidFill>
            <a:srgbClr val="E1F4F1"/>
          </a:solidFill>
          <a:ln w="12700">
            <a:solidFill>
              <a:srgbClr val="C6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0664" y="2331720"/>
            <a:ext cx="2404872" cy="6217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defRPr sz="1060" b="1">
                <a:solidFill>
                  <a:srgbClr val="0F766E"/>
                </a:solidFill>
                <a:latin typeface="Aptos"/>
              </a:defRPr>
            </a:pPr>
            <a:r>
              <a:t>Center B</a:t>
            </a:r>
            <a:br/>
            <a:r>
              <a:t>local image + local label</a:t>
            </a:r>
            <a:br/>
            <a:r>
              <a:t>experimental unit: lesion-case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20440" y="2331720"/>
            <a:ext cx="1508760" cy="594360"/>
          </a:xfrm>
          <a:prstGeom prst="rect">
            <a:avLst/>
          </a:prstGeom>
          <a:solidFill>
            <a:srgbClr val="E5EEF8"/>
          </a:solidFill>
          <a:ln w="12700">
            <a:solidFill>
              <a:srgbClr val="C6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75304" y="2377439"/>
            <a:ext cx="1399031" cy="5029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defRPr sz="1030" b="1">
                <a:solidFill>
                  <a:srgbClr val="1F4E79"/>
                </a:solidFill>
                <a:latin typeface="Aptos"/>
              </a:defRPr>
            </a:pPr>
            <a:r>
              <a:t>local estimator</a:t>
            </a:r>
            <a:br/>
            <a:r>
              <a:t>calibration score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246120" y="2642616"/>
            <a:ext cx="246888" cy="0"/>
          </a:xfrm>
          <a:prstGeom prst="line">
            <a:avLst/>
          </a:prstGeom>
          <a:ln w="20320">
            <a:solidFill>
              <a:srgbClr val="4F1F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5074920" y="2642616"/>
            <a:ext cx="685800" cy="100584"/>
          </a:xfrm>
          <a:prstGeom prst="line">
            <a:avLst/>
          </a:prstGeom>
          <a:ln w="17780">
            <a:solidFill>
              <a:srgbClr val="4F1F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685800" y="3246120"/>
            <a:ext cx="2514600" cy="713232"/>
          </a:xfrm>
          <a:prstGeom prst="rect">
            <a:avLst/>
          </a:prstGeom>
          <a:solidFill>
            <a:srgbClr val="E1F4F1"/>
          </a:solidFill>
          <a:ln w="12700">
            <a:solidFill>
              <a:srgbClr val="C6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0664" y="3291839"/>
            <a:ext cx="2404872" cy="6217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defRPr sz="1060" b="1">
                <a:solidFill>
                  <a:srgbClr val="0F766E"/>
                </a:solidFill>
                <a:latin typeface="Aptos"/>
              </a:defRPr>
            </a:pPr>
            <a:r>
              <a:t>Center C</a:t>
            </a:r>
            <a:br/>
            <a:r>
              <a:t>local image + local label</a:t>
            </a:r>
            <a:br/>
            <a:r>
              <a:t>experimental unit: lesion-case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520440" y="3291840"/>
            <a:ext cx="1508760" cy="594360"/>
          </a:xfrm>
          <a:prstGeom prst="rect">
            <a:avLst/>
          </a:prstGeom>
          <a:solidFill>
            <a:srgbClr val="E5EEF8"/>
          </a:solidFill>
          <a:ln w="12700">
            <a:solidFill>
              <a:srgbClr val="C6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75304" y="3337560"/>
            <a:ext cx="1399031" cy="5029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defRPr sz="1030" b="1">
                <a:solidFill>
                  <a:srgbClr val="1F4E79"/>
                </a:solidFill>
                <a:latin typeface="Aptos"/>
              </a:defRPr>
            </a:pPr>
            <a:r>
              <a:t>local estimator</a:t>
            </a:r>
            <a:br/>
            <a:r>
              <a:t>calibration score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3246120" y="3602736"/>
            <a:ext cx="246888" cy="0"/>
          </a:xfrm>
          <a:prstGeom prst="line">
            <a:avLst/>
          </a:prstGeom>
          <a:ln w="20320">
            <a:solidFill>
              <a:srgbClr val="4F1F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5074920" y="2743200"/>
            <a:ext cx="685800" cy="859536"/>
          </a:xfrm>
          <a:prstGeom prst="line">
            <a:avLst/>
          </a:prstGeom>
          <a:ln w="17780">
            <a:solidFill>
              <a:srgbClr val="4F1F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5715000" y="2176272"/>
            <a:ext cx="2194560" cy="1143000"/>
          </a:xfrm>
          <a:prstGeom prst="rect">
            <a:avLst/>
          </a:prstGeom>
          <a:solidFill>
            <a:srgbClr val="FBF1D6"/>
          </a:solidFill>
          <a:ln w="12700">
            <a:solidFill>
              <a:srgbClr val="C6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769864" y="2221991"/>
            <a:ext cx="2084831" cy="10515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defRPr sz="1120" b="1">
                <a:solidFill>
                  <a:srgbClr val="9A6A16"/>
                </a:solidFill>
                <a:latin typeface="Aptos"/>
              </a:defRPr>
            </a:pPr>
            <a:r>
              <a:t>Transmitted</a:t>
            </a:r>
            <a:br/>
            <a:r>
              <a:t>likelihood / score / summary update</a:t>
            </a:r>
            <a:br/>
            <a:r>
              <a:t>(raw images stay local)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973568" y="2743200"/>
            <a:ext cx="420624" cy="0"/>
          </a:xfrm>
          <a:prstGeom prst="line">
            <a:avLst/>
          </a:prstGeom>
          <a:ln w="22860">
            <a:solidFill>
              <a:srgbClr val="4F1F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8412480" y="1901952"/>
            <a:ext cx="2926080" cy="868680"/>
          </a:xfrm>
          <a:prstGeom prst="rect">
            <a:avLst/>
          </a:prstGeom>
          <a:solidFill>
            <a:srgbClr val="E5EEF8"/>
          </a:solidFill>
          <a:ln w="12700">
            <a:solidFill>
              <a:srgbClr val="C6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67344" y="1947672"/>
            <a:ext cx="2816352" cy="7772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defRPr sz="1140" b="1">
                <a:solidFill>
                  <a:srgbClr val="1F4E79"/>
                </a:solidFill>
                <a:latin typeface="Aptos"/>
              </a:defRPr>
            </a:pPr>
            <a:r>
              <a:t>Global estimator</a:t>
            </a:r>
            <a:br/>
            <a:r>
              <a:t>compare local-only vs summary-sharing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412480" y="3456432"/>
            <a:ext cx="2926080" cy="960120"/>
          </a:xfrm>
          <a:prstGeom prst="rect">
            <a:avLst/>
          </a:prstGeom>
          <a:solidFill>
            <a:srgbClr val="F8E3E1"/>
          </a:solidFill>
          <a:ln w="12700">
            <a:solidFill>
              <a:srgbClr val="C6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67344" y="3502151"/>
            <a:ext cx="2816352" cy="8686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defRPr sz="1140" b="1">
                <a:solidFill>
                  <a:srgbClr val="A33A34"/>
                </a:solidFill>
                <a:latin typeface="Aptos"/>
              </a:defRPr>
            </a:pPr>
            <a:r>
              <a:t>Success endpoint</a:t>
            </a:r>
            <a:br/>
            <a:r>
              <a:t>lesion recall + burden error</a:t>
            </a:r>
            <a:br/>
            <a:r>
              <a:t>worst-center gap &lt; 5%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" y="5257800"/>
            <a:ext cx="10332720" cy="38404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1220" b="1">
                <a:solidFill>
                  <a:srgbClr val="17202A"/>
                </a:solidFill>
                <a:latin typeface="Aptos"/>
              </a:defRPr>
            </a:pPr>
            <a:r>
              <a:t>Comparator: local-only model. What moves: score summaries and likelihood updates. What stays local: images, labels, case identifiers.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" y="5989320"/>
            <a:ext cx="10241280" cy="3200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840" b="0">
                <a:solidFill>
                  <a:srgbClr val="606977"/>
                </a:solidFill>
                <a:latin typeface="Aptos"/>
              </a:defRPr>
            </a:pPr>
            <a:r>
              <a:t>Reference retrieval: method/design query selected inspected pages RRL-002, RRL-008, RRL-019, RRL-005, RRL-009; trace in EVIDENCE_MANIFEST; style not copied.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F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8686800" cy="32918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2100" b="1">
                <a:solidFill>
                  <a:srgbClr val="17202A"/>
                </a:solidFill>
                <a:latin typeface="Aptos"/>
              </a:defRPr>
            </a:pPr>
            <a:r>
              <a:t>AI Phenotype Error Changes Inference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384048"/>
            <a:ext cx="868680" cy="2011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defRPr sz="900" b="0">
                <a:solidFill>
                  <a:srgbClr val="606977"/>
                </a:solidFill>
                <a:latin typeface="Aptos"/>
              </a:defRPr>
            </a:pPr>
            <a:r>
              <a:t>04/04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04672"/>
            <a:ext cx="10698480" cy="31089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1240" b="1">
                <a:solidFill>
                  <a:srgbClr val="4F1F68"/>
                </a:solidFill>
                <a:latin typeface="Aptos"/>
              </a:defRPr>
            </a:pPr>
            <a:r>
              <a:t>Segmentation output is a measured variable whose error can attenuate inference.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280160"/>
            <a:ext cx="228600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1200" b="1">
                <a:solidFill>
                  <a:srgbClr val="606977"/>
                </a:solidFill>
                <a:latin typeface="Aptos"/>
              </a:defRPr>
            </a:pPr>
            <a:r>
              <a:t>Target estimand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600200"/>
            <a:ext cx="2651760" cy="914400"/>
          </a:xfrm>
          <a:prstGeom prst="rect">
            <a:avLst/>
          </a:prstGeom>
          <a:solidFill>
            <a:srgbClr val="E1F4F1"/>
          </a:solidFill>
          <a:ln w="12700">
            <a:solidFill>
              <a:srgbClr val="C6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645920"/>
            <a:ext cx="2542032" cy="8229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defRPr sz="1120" b="1">
                <a:solidFill>
                  <a:srgbClr val="0F766E"/>
                </a:solidFill>
                <a:latin typeface="Aptos"/>
              </a:defRPr>
            </a:pPr>
            <a:r>
              <a:t>beta1: effect of true lesion burden T_i</a:t>
            </a:r>
            <a:br/>
            <a:r>
              <a:t>on downstream outcome Y_i</a:t>
            </a:r>
          </a:p>
        </p:txBody>
      </p:sp>
      <p:sp>
        <p:nvSpPr>
          <p:cNvPr id="9" name="Rectangle 8"/>
          <p:cNvSpPr/>
          <p:nvPr/>
        </p:nvSpPr>
        <p:spPr>
          <a:xfrm>
            <a:off x="3794760" y="1600200"/>
            <a:ext cx="2468880" cy="914400"/>
          </a:xfrm>
          <a:prstGeom prst="rect">
            <a:avLst/>
          </a:prstGeom>
          <a:solidFill>
            <a:srgbClr val="FBF1D6"/>
          </a:solidFill>
          <a:ln w="12700">
            <a:solidFill>
              <a:srgbClr val="C6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9624" y="1645920"/>
            <a:ext cx="2359152" cy="8229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defRPr sz="1120" b="1">
                <a:solidFill>
                  <a:srgbClr val="9A6A16"/>
                </a:solidFill>
                <a:latin typeface="Aptos"/>
              </a:defRPr>
            </a:pPr>
            <a:r>
              <a:t>Observed AI phenotype</a:t>
            </a:r>
            <a:br/>
            <a:r>
              <a:t>M_i = T_i + U_i</a:t>
            </a:r>
            <a:br/>
            <a:r>
              <a:t>error varies by center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29400" y="1600200"/>
            <a:ext cx="2468880" cy="914400"/>
          </a:xfrm>
          <a:prstGeom prst="rect">
            <a:avLst/>
          </a:prstGeom>
          <a:solidFill>
            <a:srgbClr val="E5EEF8"/>
          </a:solidFill>
          <a:ln w="12700">
            <a:solidFill>
              <a:srgbClr val="C6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84264" y="1645920"/>
            <a:ext cx="2359152" cy="8229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defRPr sz="1120" b="1">
                <a:solidFill>
                  <a:srgbClr val="1F4E79"/>
                </a:solidFill>
                <a:latin typeface="Aptos"/>
              </a:defRPr>
            </a:pPr>
            <a:r>
              <a:t>Validation subset</a:t>
            </a:r>
            <a:br/>
            <a:r>
              <a:t>observe both T_i and M_i</a:t>
            </a:r>
            <a:br/>
            <a:r>
              <a:t>estimate calibration error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89720" y="1600200"/>
            <a:ext cx="2331720" cy="914400"/>
          </a:xfrm>
          <a:prstGeom prst="rect">
            <a:avLst/>
          </a:prstGeom>
          <a:solidFill>
            <a:srgbClr val="F8E3E1"/>
          </a:solidFill>
          <a:ln w="12700">
            <a:solidFill>
              <a:srgbClr val="C6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44584" y="1645920"/>
            <a:ext cx="2221991" cy="8229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defRPr sz="1060" b="1">
                <a:solidFill>
                  <a:srgbClr val="A33A34"/>
                </a:solidFill>
                <a:latin typeface="Aptos"/>
              </a:defRPr>
            </a:pPr>
            <a:r>
              <a:t>Inference target</a:t>
            </a:r>
            <a:br/>
            <a:r>
              <a:t>Y_i = beta0 + beta1 T_i + eps_i</a:t>
            </a:r>
            <a:br/>
            <a:r>
              <a:t>naive M_i attenuates beta1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520440" y="2057400"/>
            <a:ext cx="228599" cy="0"/>
          </a:xfrm>
          <a:prstGeom prst="line">
            <a:avLst/>
          </a:prstGeom>
          <a:ln w="22860">
            <a:solidFill>
              <a:srgbClr val="4F1F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6309360" y="2057400"/>
            <a:ext cx="228600" cy="0"/>
          </a:xfrm>
          <a:prstGeom prst="line">
            <a:avLst/>
          </a:prstGeom>
          <a:ln w="22860">
            <a:solidFill>
              <a:srgbClr val="4F1F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9098280" y="2057400"/>
            <a:ext cx="228600" cy="0"/>
          </a:xfrm>
          <a:prstGeom prst="line">
            <a:avLst/>
          </a:prstGeom>
          <a:ln w="22860">
            <a:solidFill>
              <a:srgbClr val="4F1F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914400" y="3246120"/>
            <a:ext cx="10058400" cy="4114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1300" b="1">
                <a:solidFill>
                  <a:srgbClr val="17202A"/>
                </a:solidFill>
                <a:latin typeface="Aptos"/>
              </a:defRPr>
            </a:pPr>
            <a:r>
              <a:t>Toy calibration: E[T|M,center] = alpha_center + gamma_center M. Report beta1 after validation-calibrated correction, not a raw AI burden coefficient.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286000" y="4251960"/>
            <a:ext cx="7589520" cy="868680"/>
          </a:xfrm>
          <a:prstGeom prst="rect">
            <a:avLst/>
          </a:prstGeom>
          <a:solidFill>
            <a:srgbClr val="E1F4F1"/>
          </a:solidFill>
          <a:ln w="12700">
            <a:solidFill>
              <a:srgbClr val="C6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340864" y="4297680"/>
            <a:ext cx="7479792" cy="7772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defRPr sz="1220" b="1">
                <a:solidFill>
                  <a:srgbClr val="0F766E"/>
                </a:solidFill>
                <a:latin typeface="Aptos"/>
              </a:defRPr>
            </a:pPr>
            <a:r>
              <a:t>Evidence boundary</a:t>
            </a:r>
            <a:br/>
            <a:r>
              <a:t>This page is a generated-variable inference mechanism,</a:t>
            </a:r>
            <a:br/>
            <a:r>
              <a:t>not completed clinical validity evidence.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989320"/>
            <a:ext cx="10241280" cy="3200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840" b="0">
                <a:solidFill>
                  <a:srgbClr val="606977"/>
                </a:solidFill>
                <a:latin typeface="Aptos"/>
              </a:defRPr>
            </a:pPr>
            <a:r>
              <a:t>Reference retrieval: estimator/model query selected inspected pages RRL-044, RRL-027, RRL-020, RRL-028, RRL-007; trace in EVIDENCE_MANIFEST; style not copied.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