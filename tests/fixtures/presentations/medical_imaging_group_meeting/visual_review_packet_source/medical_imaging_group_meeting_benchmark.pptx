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A small lesion is the unit of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01/05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Synthetic cardiac-MR-like segmentation task; not clinical validation</a:t>
            </a:r>
          </a:p>
        </p:txBody>
      </p:sp>
      <p:pic>
        <p:nvPicPr>
          <p:cNvPr id="6" name="Picture 5" descr="slide1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98448"/>
            <a:ext cx="3840480" cy="3840480"/>
          </a:xfrm>
          <a:prstGeom prst="rect">
            <a:avLst/>
          </a:prstGeom>
        </p:spPr>
      </p:pic>
      <p:pic>
        <p:nvPicPr>
          <p:cNvPr id="7" name="Picture 6" descr="slide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1298448"/>
            <a:ext cx="3840480" cy="3840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51560" y="4005072"/>
            <a:ext cx="987552" cy="237744"/>
          </a:xfrm>
          <a:prstGeom prst="round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032504"/>
            <a:ext cx="877824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myocardial ring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901952" y="3273552"/>
            <a:ext cx="402336" cy="694944"/>
          </a:xfrm>
          <a:prstGeom prst="line">
            <a:avLst/>
          </a:prstGeom>
          <a:ln w="17780">
            <a:solidFill>
              <a:srgbClr val="9A6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072384" y="2542032"/>
            <a:ext cx="1188720" cy="237744"/>
          </a:xfrm>
          <a:prstGeom prst="round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27248" y="2569463"/>
            <a:ext cx="1078992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Aptos"/>
              </a:defRPr>
            </a:pPr>
            <a:r>
              <a:t>small lesion target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328416" y="2779776"/>
            <a:ext cx="219456" cy="201168"/>
          </a:xfrm>
          <a:prstGeom prst="line">
            <a:avLst/>
          </a:prstGeom>
          <a:ln w="17780">
            <a:solidFill>
              <a:srgbClr val="9A6A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32520" y="1371600"/>
            <a:ext cx="2606040" cy="7132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500" b="1">
                <a:solidFill>
                  <a:srgbClr val="1C2430"/>
                </a:solidFill>
                <a:latin typeface="Aptos"/>
              </a:defRPr>
            </a:pPr>
            <a:r>
              <a:t>Evaluation unit: lesion detection + mask overlap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231136"/>
            <a:ext cx="2514600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0">
                <a:solidFill>
                  <a:srgbClr val="69717D"/>
                </a:solidFill>
                <a:latin typeface="Aptos"/>
              </a:defRPr>
            </a:pPr>
            <a:r>
              <a:t>Dice summarizes mask overlap, but a missed small lesion is counted at the lesion level.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3218688"/>
            <a:ext cx="251460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0F766E"/>
                </a:solidFill>
                <a:latin typeface="Aptos"/>
              </a:defRPr>
            </a:pPr>
            <a:r>
              <a:t>Endpoints: Dice overlap, lesion recall, false-positive burden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224528"/>
            <a:ext cx="251460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40" b="0">
                <a:solidFill>
                  <a:srgbClr val="69717D"/>
                </a:solidFill>
                <a:latin typeface="Aptos"/>
              </a:defRPr>
            </a:pPr>
            <a:r>
              <a:t>Synthetic cardiac-MR-like phantoms; not clinical validation.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0080" y="5440680"/>
            <a:ext cx="7726680" cy="0"/>
          </a:xfrm>
          <a:prstGeom prst="line">
            <a:avLst/>
          </a:prstGeom>
          <a:ln w="13970">
            <a:solidFill>
              <a:srgbClr val="C7CD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60120" y="5623560"/>
            <a:ext cx="146304" cy="146304"/>
          </a:xfrm>
          <a:prstGeom prst="rect">
            <a:avLst/>
          </a:prstGeom>
          <a:solidFill>
            <a:srgbClr val="9A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1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GT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5623560"/>
            <a:ext cx="146304" cy="146304"/>
          </a:xfrm>
          <a:prstGeom prst="rect">
            <a:avLst/>
          </a:prstGeom>
          <a:solidFill>
            <a:srgbClr val="2A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04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Pred / TP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5623560"/>
            <a:ext cx="146304" cy="146304"/>
          </a:xfrm>
          <a:prstGeom prst="rect">
            <a:avLst/>
          </a:prstGeom>
          <a:solidFill>
            <a:srgbClr val="2F6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7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5623560"/>
            <a:ext cx="146304" cy="146304"/>
          </a:xfrm>
          <a:prstGeom prst="rect">
            <a:avLst/>
          </a:prstGeom>
          <a:solidFill>
            <a:srgbClr val="B0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5605272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The stress test follows one image-to-endpoint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02/05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Center appearance shift propagates through prediction before aggregation</a:t>
            </a:r>
          </a:p>
        </p:txBody>
      </p:sp>
      <p:pic>
        <p:nvPicPr>
          <p:cNvPr id="6" name="Picture 5" descr="center_a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225296"/>
            <a:ext cx="1078992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92224" y="1408176"/>
            <a:ext cx="93268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00" b="1">
                <a:solidFill>
                  <a:srgbClr val="1C2430"/>
                </a:solidFill>
                <a:latin typeface="Aptos"/>
              </a:defRPr>
            </a:pPr>
            <a:r>
              <a:t>Center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2224" y="1709928"/>
            <a:ext cx="10241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69" b="0">
                <a:solidFill>
                  <a:srgbClr val="69717D"/>
                </a:solidFill>
                <a:latin typeface="Aptos"/>
              </a:defRPr>
            </a:pPr>
            <a:r>
              <a:t>reference contrast</a:t>
            </a:r>
          </a:p>
        </p:txBody>
      </p:sp>
      <p:pic>
        <p:nvPicPr>
          <p:cNvPr id="9" name="Picture 8" descr="center_b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523744"/>
            <a:ext cx="1078992" cy="1078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2224" y="2706624"/>
            <a:ext cx="93268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00" b="1">
                <a:solidFill>
                  <a:srgbClr val="1C2430"/>
                </a:solidFill>
                <a:latin typeface="Aptos"/>
              </a:defRPr>
            </a:pPr>
            <a:r>
              <a:t>Center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3008376"/>
            <a:ext cx="10241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69" b="0">
                <a:solidFill>
                  <a:srgbClr val="69717D"/>
                </a:solidFill>
                <a:latin typeface="Aptos"/>
              </a:defRPr>
            </a:pPr>
            <a:r>
              <a:t>low contrast + bias</a:t>
            </a:r>
          </a:p>
        </p:txBody>
      </p:sp>
      <p:pic>
        <p:nvPicPr>
          <p:cNvPr id="12" name="Picture 11" descr="center_c_sh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3822191"/>
            <a:ext cx="1078992" cy="1078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92224" y="4005072"/>
            <a:ext cx="93268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00" b="1">
                <a:solidFill>
                  <a:srgbClr val="1C2430"/>
                </a:solidFill>
                <a:latin typeface="Aptos"/>
              </a:defRPr>
            </a:pPr>
            <a:r>
              <a:t>Center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24" y="4306824"/>
            <a:ext cx="10241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69" b="0">
                <a:solidFill>
                  <a:srgbClr val="69717D"/>
                </a:solidFill>
                <a:latin typeface="Aptos"/>
              </a:defRPr>
            </a:pPr>
            <a:r>
              <a:t>high shift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84064"/>
            <a:ext cx="188366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19" b="1">
                <a:solidFill>
                  <a:srgbClr val="0F766E"/>
                </a:solidFill>
                <a:latin typeface="Aptos"/>
              </a:defRPr>
            </a:pPr>
            <a:r>
              <a:t>appearance shift</a:t>
            </a:r>
          </a:p>
        </p:txBody>
      </p:sp>
      <p:pic>
        <p:nvPicPr>
          <p:cNvPr id="16" name="Picture 15" descr="slide1_overl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2384" y="1828800"/>
            <a:ext cx="1298448" cy="1298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2384" y="3236976"/>
            <a:ext cx="129844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image + GT</a:t>
            </a:r>
          </a:p>
        </p:txBody>
      </p:sp>
      <p:pic>
        <p:nvPicPr>
          <p:cNvPr id="18" name="Picture 17" descr="failure_p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1828800"/>
            <a:ext cx="1298448" cy="12984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56048" y="3236976"/>
            <a:ext cx="129844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prediction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12864" y="1965960"/>
            <a:ext cx="1517904" cy="822960"/>
          </a:xfrm>
          <a:prstGeom prst="roundRect">
            <a:avLst/>
          </a:prstGeom>
          <a:solidFill>
            <a:srgbClr val="FBFBF8"/>
          </a:solidFill>
          <a:ln w="12700">
            <a:solidFill>
              <a:srgbClr val="C7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2075688"/>
            <a:ext cx="1298448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1C2430"/>
                </a:solidFill>
                <a:latin typeface="Aptos"/>
              </a:defRPr>
            </a:pPr>
            <a:r>
              <a:t>case metrics</a:t>
            </a:r>
            <a:br/>
            <a:r>
              <a:t>Dice, recall, FP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965960"/>
            <a:ext cx="1627632" cy="822960"/>
          </a:xfrm>
          <a:prstGeom prst="roundRect">
            <a:avLst/>
          </a:prstGeom>
          <a:solidFill>
            <a:srgbClr val="FBFBF8"/>
          </a:solidFill>
          <a:ln w="12700">
            <a:solidFill>
              <a:srgbClr val="C7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3" y="2075688"/>
            <a:ext cx="1408176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1C2430"/>
                </a:solidFill>
                <a:latin typeface="Aptos"/>
              </a:defRPr>
            </a:pPr>
            <a:r>
              <a:t>center summary</a:t>
            </a:r>
            <a:br/>
            <a:r>
              <a:t>+ lesion strata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331720"/>
            <a:ext cx="402336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70832" y="2331720"/>
            <a:ext cx="585216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54496" y="2331720"/>
            <a:ext cx="658368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430768" y="2331720"/>
            <a:ext cx="658368" cy="0"/>
          </a:xfrm>
          <a:prstGeom prst="line">
            <a:avLst/>
          </a:prstGeom>
          <a:ln w="2032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980944" y="3840480"/>
            <a:ext cx="726948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0F766E"/>
                </a:solidFill>
                <a:latin typeface="Aptos"/>
              </a:defRPr>
            </a:pPr>
            <a:r>
              <a:t>The same synthetic case carries image pixels, lesion mask, prediction and metrics before center-level averaging.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944" y="4434840"/>
            <a:ext cx="7269480" cy="4389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0">
                <a:solidFill>
                  <a:srgbClr val="69717D"/>
                </a:solidFill>
                <a:latin typeface="Aptos"/>
              </a:defRPr>
            </a:pPr>
            <a:r>
              <a:t>The stress test asks whether center-level average Dice hides lesion-level failures under appearance shift.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926080" y="5102352"/>
            <a:ext cx="7315200" cy="0"/>
          </a:xfrm>
          <a:prstGeom prst="line">
            <a:avLst/>
          </a:prstGeom>
          <a:ln w="13970">
            <a:solidFill>
              <a:srgbClr val="C7CDD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154680" y="5321808"/>
            <a:ext cx="6858000" cy="365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00" b="0">
                <a:solidFill>
                  <a:srgbClr val="69717D"/>
                </a:solidFill>
                <a:latin typeface="Aptos"/>
              </a:defRPr>
            </a:pPr>
            <a:r>
              <a:t>Aggregation is descriptive: no clinical validation claim is made from these phantoms.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Average Dice can hide a lesion-level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03/05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Endpoint disagreement appears under the high-shift center</a:t>
            </a:r>
          </a:p>
        </p:txBody>
      </p:sp>
      <p:pic>
        <p:nvPicPr>
          <p:cNvPr id="6" name="Picture 5" descr="slide3_endpoint_dis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1069848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340096"/>
            <a:ext cx="694944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C2430"/>
                </a:solidFill>
                <a:latin typeface="Aptos"/>
              </a:defRPr>
            </a:pPr>
            <a:r>
              <a:t>Center C average Dice = 0.56, but small-lesion recall drops to 0.00.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5266944"/>
            <a:ext cx="2788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80" b="0">
                <a:solidFill>
                  <a:srgbClr val="69717D"/>
                </a:solidFill>
                <a:latin typeface="Aptos"/>
              </a:defRPr>
            </a:pPr>
            <a:r>
              <a:t>FP burden is lower-is-better; Dice and recall are higher-is-better.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The failure is visible in the same-case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04/05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A missed small lesion drives the negative endpoint</a:t>
            </a:r>
          </a:p>
        </p:txBody>
      </p:sp>
      <p:pic>
        <p:nvPicPr>
          <p:cNvPr id="6" name="Picture 5" descr="failure_in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1353312"/>
            <a:ext cx="2487168" cy="2487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Input</a:t>
            </a:r>
          </a:p>
        </p:txBody>
      </p:sp>
      <p:pic>
        <p:nvPicPr>
          <p:cNvPr id="8" name="Picture 7" descr="failure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568" y="1353312"/>
            <a:ext cx="2487168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01568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GT lesion</a:t>
            </a:r>
          </a:p>
        </p:txBody>
      </p:sp>
      <p:pic>
        <p:nvPicPr>
          <p:cNvPr id="10" name="Picture 9" descr="failure_p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784" y="1353312"/>
            <a:ext cx="2487168" cy="24871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72784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Prediction</a:t>
            </a:r>
          </a:p>
        </p:txBody>
      </p:sp>
      <p:pic>
        <p:nvPicPr>
          <p:cNvPr id="12" name="Picture 11" descr="failure_err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1353312"/>
            <a:ext cx="2487168" cy="24871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0" y="3931920"/>
            <a:ext cx="2487168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50" b="1">
                <a:solidFill>
                  <a:srgbClr val="1C2430"/>
                </a:solidFill>
                <a:latin typeface="Aptos"/>
              </a:defRPr>
            </a:pPr>
            <a:r>
              <a:t>TP / FP / FN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4462272"/>
            <a:ext cx="146304" cy="146304"/>
          </a:xfrm>
          <a:prstGeom prst="rect">
            <a:avLst/>
          </a:prstGeom>
          <a:solidFill>
            <a:srgbClr val="9A6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GT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37943" y="4462272"/>
            <a:ext cx="146304" cy="146304"/>
          </a:xfrm>
          <a:prstGeom prst="rect">
            <a:avLst/>
          </a:prstGeom>
          <a:solidFill>
            <a:srgbClr val="2A7C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9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Pred / TP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80944" y="4462272"/>
            <a:ext cx="146304" cy="146304"/>
          </a:xfrm>
          <a:prstGeom prst="rect">
            <a:avLst/>
          </a:prstGeom>
          <a:solidFill>
            <a:srgbClr val="2F6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82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4" y="4462272"/>
            <a:ext cx="146304" cy="146304"/>
          </a:xfrm>
          <a:prstGeom prst="rect">
            <a:avLst/>
          </a:prstGeom>
          <a:solidFill>
            <a:srgbClr val="B0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5112" y="4443984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50" b="0">
                <a:solidFill>
                  <a:srgbClr val="69717D"/>
                </a:solidFill>
                <a:latin typeface="Aptos"/>
              </a:defRPr>
            </a:pPr>
            <a:r>
              <a:t>FN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84064"/>
            <a:ext cx="790956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C2430"/>
                </a:solidFill>
                <a:latin typeface="Aptos"/>
              </a:defRPr>
            </a:pPr>
            <a:r>
              <a:t>Case C3-03 (Center C, small lesion): Dice 0.00; lesion recall 0; FN pixels 20.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559552"/>
            <a:ext cx="790956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20" b="0">
                <a:solidFill>
                  <a:srgbClr val="69717D"/>
                </a:solidFill>
                <a:latin typeface="Aptos"/>
              </a:defRPr>
            </a:pPr>
            <a:r>
              <a:t>The red FN region shows why an average overlap metric is not enough for this stress condition.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60" y="5084064"/>
            <a:ext cx="2331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80" b="0">
                <a:solidFill>
                  <a:srgbClr val="69717D"/>
                </a:solidFill>
                <a:latin typeface="Aptos"/>
              </a:defRPr>
            </a:pPr>
            <a:r>
              <a:t>All four panels are the same synthetic slice geometry.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43B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4183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050" b="1">
                <a:solidFill>
                  <a:srgbClr val="1C2430"/>
                </a:solidFill>
                <a:latin typeface="Aptos"/>
              </a:defRPr>
            </a:pPr>
            <a:r>
              <a:t>Validate the small-lesion shift explicitly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384048"/>
            <a:ext cx="84124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9717D"/>
                </a:solidFill>
                <a:latin typeface="Aptos"/>
              </a:defRPr>
            </a:pPr>
            <a:r>
              <a:t>05/05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7442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10" b="1">
                <a:solidFill>
                  <a:srgbClr val="0F766E"/>
                </a:solidFill>
                <a:latin typeface="Aptos"/>
              </a:defRPr>
            </a:pPr>
            <a:r>
              <a:t>Completed synthetic evidence motivates a planned held-out-center experiment</a:t>
            </a:r>
          </a:p>
        </p:txBody>
      </p:sp>
      <p:pic>
        <p:nvPicPr>
          <p:cNvPr id="6" name="Picture 5" descr="slide5_lesion_size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34440"/>
            <a:ext cx="7955279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87968" y="1371600"/>
            <a:ext cx="2240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C2430"/>
                </a:solidFill>
                <a:latin typeface="Aptos"/>
              </a:defRPr>
            </a:pPr>
            <a:r>
              <a:t>Completed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7968" y="1755648"/>
            <a:ext cx="2240280" cy="7863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50" b="0">
                <a:solidFill>
                  <a:srgbClr val="69717D"/>
                </a:solidFill>
                <a:latin typeface="Aptos"/>
              </a:defRPr>
            </a:pPr>
            <a:r>
              <a:t>Small lesions in the high-shift center are the supported failure regime in this deterministic phantom benchmark.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7968" y="2999232"/>
            <a:ext cx="22402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0F766E"/>
                </a:solidFill>
                <a:latin typeface="Aptos"/>
              </a:defRPr>
            </a:pPr>
            <a:r>
              <a:t>Planned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3383280"/>
            <a:ext cx="2240280" cy="8595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150" b="0">
                <a:solidFill>
                  <a:srgbClr val="69717D"/>
                </a:solidFill>
                <a:latin typeface="Aptos"/>
              </a:defRPr>
            </a:pPr>
            <a:r>
              <a:t>Hold out center C, stratify by lesion size, and sweep prediction threshold/calibration before comparing methods.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4882896"/>
            <a:ext cx="224028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050" b="0">
                <a:solidFill>
                  <a:srgbClr val="69717D"/>
                </a:solidFill>
                <a:latin typeface="Aptos"/>
              </a:defRPr>
            </a:pPr>
            <a:r>
              <a:t>Synthetic cardiac-MR-like phantoms; not a patient validation endpoint.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