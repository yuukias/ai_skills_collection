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Relationship Id="rId3" Type="http://schemas.openxmlformats.org/officeDocument/2006/relationships/image" Target="../media/image5.png"/><Relationship Id="rId4" Type="http://schemas.openxmlformats.org/officeDocument/2006/relationships/image" Target="../media/image6.png"/><Relationship Id="rId5" Type="http://schemas.openxmlformats.org/officeDocument/2006/relationships/image" Target="../media/image7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5F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243B5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310896"/>
            <a:ext cx="9418320" cy="41148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>
              <a:defRPr sz="2050" b="1">
                <a:solidFill>
                  <a:srgbClr val="1C2430"/>
                </a:solidFill>
                <a:latin typeface="Aptos"/>
              </a:defRPr>
            </a:pPr>
            <a:r>
              <a:t>A small lesion is the unit of failure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652760" y="384048"/>
            <a:ext cx="841248" cy="201168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r">
              <a:defRPr sz="900" b="0">
                <a:solidFill>
                  <a:srgbClr val="69717D"/>
                </a:solidFill>
                <a:latin typeface="Aptos"/>
              </a:defRPr>
            </a:pPr>
            <a:r>
              <a:t>01/05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" y="804672"/>
            <a:ext cx="10744200" cy="329184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>
              <a:defRPr sz="1210" b="1">
                <a:solidFill>
                  <a:srgbClr val="0F766E"/>
                </a:solidFill>
                <a:latin typeface="Aptos"/>
              </a:defRPr>
            </a:pPr>
            <a:r>
              <a:t>Synthetic cardiac-MR-like segmentation task; not clinical validation</a:t>
            </a:r>
          </a:p>
        </p:txBody>
      </p:sp>
      <p:pic>
        <p:nvPicPr>
          <p:cNvPr id="6" name="Picture 5" descr="slide1_inpu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298448"/>
            <a:ext cx="3840480" cy="3840480"/>
          </a:xfrm>
          <a:prstGeom prst="rect">
            <a:avLst/>
          </a:prstGeom>
        </p:spPr>
      </p:pic>
      <p:pic>
        <p:nvPicPr>
          <p:cNvPr id="7" name="Picture 6" descr="slide1_overlay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26280" y="1298448"/>
            <a:ext cx="3840480" cy="3840480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8732520" y="1371600"/>
            <a:ext cx="2606040" cy="713232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>
              <a:defRPr sz="1500" b="1">
                <a:solidFill>
                  <a:srgbClr val="1C2430"/>
                </a:solidFill>
                <a:latin typeface="Aptos"/>
              </a:defRPr>
            </a:pPr>
            <a:r>
              <a:t>Evaluation unit: lesion detection + mask overlap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732520" y="2231136"/>
            <a:ext cx="2514600" cy="694944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>
              <a:defRPr sz="1220" b="0">
                <a:solidFill>
                  <a:srgbClr val="69717D"/>
                </a:solidFill>
                <a:latin typeface="Aptos"/>
              </a:defRPr>
            </a:pPr>
            <a:r>
              <a:t>Dice summarizes mask overlap, but a missed small lesion is counted at the lesion level.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732520" y="3218688"/>
            <a:ext cx="2514600" cy="530352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>
              <a:defRPr sz="1220" b="1">
                <a:solidFill>
                  <a:srgbClr val="0F766E"/>
                </a:solidFill>
                <a:latin typeface="Aptos"/>
              </a:defRPr>
            </a:pPr>
            <a:r>
              <a:t>Endpoints: Dice overlap, lesion recall, false-positive burden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732520" y="4224528"/>
            <a:ext cx="2514600" cy="530352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>
              <a:defRPr sz="1140" b="0">
                <a:solidFill>
                  <a:srgbClr val="69717D"/>
                </a:solidFill>
                <a:latin typeface="Aptos"/>
              </a:defRPr>
            </a:pPr>
            <a:r>
              <a:t>Synthetic cardiac-MR-like phantoms; not clinical validation.</a:t>
            </a:r>
          </a:p>
        </p:txBody>
      </p:sp>
      <p:cxnSp>
        <p:nvCxnSpPr>
          <p:cNvPr id="12" name="Connector 11"/>
          <p:cNvCxnSpPr/>
          <p:nvPr/>
        </p:nvCxnSpPr>
        <p:spPr>
          <a:xfrm>
            <a:off x="640080" y="5440680"/>
            <a:ext cx="7726680" cy="0"/>
          </a:xfrm>
          <a:prstGeom prst="line">
            <a:avLst/>
          </a:prstGeom>
          <a:ln w="13970">
            <a:solidFill>
              <a:srgbClr val="C7CDD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Rectangle 12"/>
          <p:cNvSpPr/>
          <p:nvPr/>
        </p:nvSpPr>
        <p:spPr>
          <a:xfrm>
            <a:off x="960120" y="5623560"/>
            <a:ext cx="146304" cy="146304"/>
          </a:xfrm>
          <a:prstGeom prst="rect">
            <a:avLst/>
          </a:prstGeom>
          <a:solidFill>
            <a:srgbClr val="B0473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161288" y="5605272"/>
            <a:ext cx="749808" cy="201168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>
              <a:defRPr sz="850" b="0">
                <a:solidFill>
                  <a:srgbClr val="69717D"/>
                </a:solidFill>
                <a:latin typeface="Aptos"/>
              </a:defRPr>
            </a:pPr>
            <a:r>
              <a:t>GT</a:t>
            </a:r>
          </a:p>
        </p:txBody>
      </p:sp>
      <p:sp>
        <p:nvSpPr>
          <p:cNvPr id="15" name="Rectangle 14"/>
          <p:cNvSpPr/>
          <p:nvPr/>
        </p:nvSpPr>
        <p:spPr>
          <a:xfrm>
            <a:off x="1984248" y="5623560"/>
            <a:ext cx="146304" cy="146304"/>
          </a:xfrm>
          <a:prstGeom prst="rect">
            <a:avLst/>
          </a:prstGeom>
          <a:solidFill>
            <a:srgbClr val="2A7C5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2185416" y="5605272"/>
            <a:ext cx="749808" cy="201168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>
              <a:defRPr sz="850" b="0">
                <a:solidFill>
                  <a:srgbClr val="69717D"/>
                </a:solidFill>
                <a:latin typeface="Aptos"/>
              </a:defRPr>
            </a:pPr>
            <a:r>
              <a:t>Prediction / TP</a:t>
            </a:r>
          </a:p>
        </p:txBody>
      </p:sp>
      <p:sp>
        <p:nvSpPr>
          <p:cNvPr id="17" name="Rectangle 16"/>
          <p:cNvSpPr/>
          <p:nvPr/>
        </p:nvSpPr>
        <p:spPr>
          <a:xfrm>
            <a:off x="3008376" y="5623560"/>
            <a:ext cx="146304" cy="146304"/>
          </a:xfrm>
          <a:prstGeom prst="rect">
            <a:avLst/>
          </a:prstGeom>
          <a:solidFill>
            <a:srgbClr val="2F66B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3209544" y="5605272"/>
            <a:ext cx="749808" cy="201168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>
              <a:defRPr sz="850" b="0">
                <a:solidFill>
                  <a:srgbClr val="69717D"/>
                </a:solidFill>
                <a:latin typeface="Aptos"/>
              </a:defRPr>
            </a:pPr>
            <a:r>
              <a:t>FP</a:t>
            </a:r>
          </a:p>
        </p:txBody>
      </p:sp>
      <p:sp>
        <p:nvSpPr>
          <p:cNvPr id="19" name="Rectangle 18"/>
          <p:cNvSpPr/>
          <p:nvPr/>
        </p:nvSpPr>
        <p:spPr>
          <a:xfrm>
            <a:off x="4032504" y="5623560"/>
            <a:ext cx="146304" cy="146304"/>
          </a:xfrm>
          <a:prstGeom prst="rect">
            <a:avLst/>
          </a:prstGeom>
          <a:solidFill>
            <a:srgbClr val="B0473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4233672" y="5605272"/>
            <a:ext cx="749808" cy="201168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>
              <a:defRPr sz="850" b="0">
                <a:solidFill>
                  <a:srgbClr val="69717D"/>
                </a:solidFill>
                <a:latin typeface="Aptos"/>
              </a:defRPr>
            </a:pPr>
            <a:r>
              <a:t>FN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5F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243B5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310896"/>
            <a:ext cx="9418320" cy="41148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>
              <a:defRPr sz="2050" b="1">
                <a:solidFill>
                  <a:srgbClr val="1C2430"/>
                </a:solidFill>
                <a:latin typeface="Aptos"/>
              </a:defRPr>
            </a:pPr>
            <a:r>
              <a:t>The stress test follows one image-to-endpoint path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652760" y="384048"/>
            <a:ext cx="841248" cy="201168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r">
              <a:defRPr sz="900" b="0">
                <a:solidFill>
                  <a:srgbClr val="69717D"/>
                </a:solidFill>
                <a:latin typeface="Aptos"/>
              </a:defRPr>
            </a:pPr>
            <a:r>
              <a:t>02/05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" y="804672"/>
            <a:ext cx="10744200" cy="329184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>
              <a:defRPr sz="1210" b="1">
                <a:solidFill>
                  <a:srgbClr val="0F766E"/>
                </a:solidFill>
                <a:latin typeface="Aptos"/>
              </a:defRPr>
            </a:pPr>
            <a:r>
              <a:t>Center appearance shift propagates through prediction before aggregation</a:t>
            </a:r>
          </a:p>
        </p:txBody>
      </p:sp>
      <p:pic>
        <p:nvPicPr>
          <p:cNvPr id="6" name="Picture 5" descr="slide1_inpu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8368" y="1417320"/>
            <a:ext cx="1600200" cy="160020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594360" y="3182112"/>
            <a:ext cx="1737360" cy="27432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ctr">
              <a:defRPr sz="1050" b="1">
                <a:solidFill>
                  <a:srgbClr val="1C2430"/>
                </a:solidFill>
                <a:latin typeface="Aptos"/>
              </a:defRPr>
            </a:pPr>
            <a:r>
              <a:t>3 center conditions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94360" y="3493008"/>
            <a:ext cx="1737360" cy="256032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ctr">
              <a:defRPr sz="940" b="0">
                <a:solidFill>
                  <a:srgbClr val="69717D"/>
                </a:solidFill>
                <a:latin typeface="Aptos"/>
              </a:defRPr>
            </a:pPr>
            <a:r>
              <a:t>contrast, noise, bias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2743200" y="1847088"/>
            <a:ext cx="1627632" cy="960120"/>
          </a:xfrm>
          <a:prstGeom prst="roundRect">
            <a:avLst/>
          </a:prstGeom>
          <a:solidFill>
            <a:srgbClr val="FBFBF8"/>
          </a:solidFill>
          <a:ln w="12700">
            <a:solidFill>
              <a:srgbClr val="C7CDD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2852928" y="1956816"/>
            <a:ext cx="1408176" cy="77724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ctr">
              <a:defRPr sz="1120" b="1">
                <a:solidFill>
                  <a:srgbClr val="1C2430"/>
                </a:solidFill>
                <a:latin typeface="Aptos"/>
              </a:defRPr>
            </a:pPr>
            <a:r>
              <a:t>synthetic image</a:t>
            </a:r>
            <a:br/>
            <a:r>
              <a:t>+ GT lesion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882896" y="1847088"/>
            <a:ext cx="1627632" cy="960120"/>
          </a:xfrm>
          <a:prstGeom prst="roundRect">
            <a:avLst/>
          </a:prstGeom>
          <a:solidFill>
            <a:srgbClr val="FBFBF8"/>
          </a:solidFill>
          <a:ln w="12700">
            <a:solidFill>
              <a:srgbClr val="C7CDD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992624" y="1956816"/>
            <a:ext cx="1408176" cy="77724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ctr">
              <a:defRPr sz="1120" b="1">
                <a:solidFill>
                  <a:srgbClr val="1C2430"/>
                </a:solidFill>
                <a:latin typeface="Aptos"/>
              </a:defRPr>
            </a:pPr>
            <a:r>
              <a:t>deterministic</a:t>
            </a:r>
            <a:br/>
            <a:r>
              <a:t>prediction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022592" y="1847088"/>
            <a:ext cx="1627632" cy="960120"/>
          </a:xfrm>
          <a:prstGeom prst="roundRect">
            <a:avLst/>
          </a:prstGeom>
          <a:solidFill>
            <a:srgbClr val="FBFBF8"/>
          </a:solidFill>
          <a:ln w="12700">
            <a:solidFill>
              <a:srgbClr val="C7CDD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132320" y="1956816"/>
            <a:ext cx="1408176" cy="77724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ctr">
              <a:defRPr sz="1120" b="1">
                <a:solidFill>
                  <a:srgbClr val="1C2430"/>
                </a:solidFill>
                <a:latin typeface="Aptos"/>
              </a:defRPr>
            </a:pPr>
            <a:r>
              <a:t>case metrics</a:t>
            </a:r>
            <a:br/>
            <a:r>
              <a:t>Dice, recall, FP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9162288" y="1847088"/>
            <a:ext cx="1627632" cy="960120"/>
          </a:xfrm>
          <a:prstGeom prst="roundRect">
            <a:avLst/>
          </a:prstGeom>
          <a:solidFill>
            <a:srgbClr val="FBFBF8"/>
          </a:solidFill>
          <a:ln w="12700">
            <a:solidFill>
              <a:srgbClr val="C7CDD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9272015" y="1956816"/>
            <a:ext cx="1408176" cy="77724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ctr">
              <a:defRPr sz="1120" b="1">
                <a:solidFill>
                  <a:srgbClr val="1C2430"/>
                </a:solidFill>
                <a:latin typeface="Aptos"/>
              </a:defRPr>
            </a:pPr>
            <a:r>
              <a:t>center summary</a:t>
            </a:r>
            <a:br/>
            <a:r>
              <a:t>+ lesion strata</a:t>
            </a:r>
          </a:p>
        </p:txBody>
      </p:sp>
      <p:cxnSp>
        <p:nvCxnSpPr>
          <p:cNvPr id="17" name="Connector 16"/>
          <p:cNvCxnSpPr/>
          <p:nvPr/>
        </p:nvCxnSpPr>
        <p:spPr>
          <a:xfrm>
            <a:off x="2267712" y="2331720"/>
            <a:ext cx="475488" cy="0"/>
          </a:xfrm>
          <a:prstGeom prst="line">
            <a:avLst/>
          </a:prstGeom>
          <a:ln w="20320">
            <a:solidFill>
              <a:srgbClr val="0F766E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Connector 17"/>
          <p:cNvCxnSpPr/>
          <p:nvPr/>
        </p:nvCxnSpPr>
        <p:spPr>
          <a:xfrm>
            <a:off x="4370832" y="2331720"/>
            <a:ext cx="512064" cy="0"/>
          </a:xfrm>
          <a:prstGeom prst="line">
            <a:avLst/>
          </a:prstGeom>
          <a:ln w="20320">
            <a:solidFill>
              <a:srgbClr val="0F766E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" name="Connector 18"/>
          <p:cNvCxnSpPr/>
          <p:nvPr/>
        </p:nvCxnSpPr>
        <p:spPr>
          <a:xfrm>
            <a:off x="6510528" y="2331720"/>
            <a:ext cx="512064" cy="0"/>
          </a:xfrm>
          <a:prstGeom prst="line">
            <a:avLst/>
          </a:prstGeom>
          <a:ln w="20320">
            <a:solidFill>
              <a:srgbClr val="0F766E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" name="Connector 19"/>
          <p:cNvCxnSpPr/>
          <p:nvPr/>
        </p:nvCxnSpPr>
        <p:spPr>
          <a:xfrm>
            <a:off x="8650224" y="2331720"/>
            <a:ext cx="512064" cy="0"/>
          </a:xfrm>
          <a:prstGeom prst="line">
            <a:avLst/>
          </a:prstGeom>
          <a:ln w="20320">
            <a:solidFill>
              <a:srgbClr val="0F766E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1" name="TextBox 20"/>
          <p:cNvSpPr txBox="1"/>
          <p:nvPr/>
        </p:nvSpPr>
        <p:spPr>
          <a:xfrm>
            <a:off x="2761488" y="3246120"/>
            <a:ext cx="7132320" cy="402336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>
              <a:defRPr sz="1320" b="1">
                <a:solidFill>
                  <a:srgbClr val="0F766E"/>
                </a:solidFill>
                <a:latin typeface="Aptos"/>
              </a:defRPr>
            </a:pPr>
            <a:r>
              <a:t>Case-level metrics stay attached to the same image, GT and prediction before any center-level average.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2761488" y="3840480"/>
            <a:ext cx="7132320" cy="438912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>
              <a:defRPr sz="1200" b="0">
                <a:solidFill>
                  <a:srgbClr val="69717D"/>
                </a:solidFill>
                <a:latin typeface="Aptos"/>
              </a:defRPr>
            </a:pPr>
            <a:r>
              <a:t>The stress test asks whether center-level average Dice hides lesion-level failures under appearance shift.</a:t>
            </a:r>
          </a:p>
        </p:txBody>
      </p:sp>
      <p:cxnSp>
        <p:nvCxnSpPr>
          <p:cNvPr id="23" name="Connector 22"/>
          <p:cNvCxnSpPr/>
          <p:nvPr/>
        </p:nvCxnSpPr>
        <p:spPr>
          <a:xfrm>
            <a:off x="2697480" y="4526280"/>
            <a:ext cx="7178040" cy="0"/>
          </a:xfrm>
          <a:prstGeom prst="line">
            <a:avLst/>
          </a:prstGeom>
          <a:ln w="13970">
            <a:solidFill>
              <a:srgbClr val="C7CDD3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4" name="TextBox 23"/>
          <p:cNvSpPr txBox="1"/>
          <p:nvPr/>
        </p:nvSpPr>
        <p:spPr>
          <a:xfrm>
            <a:off x="2926080" y="4736592"/>
            <a:ext cx="6675120" cy="36576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ctr">
              <a:defRPr sz="1100" b="0">
                <a:solidFill>
                  <a:srgbClr val="69717D"/>
                </a:solidFill>
                <a:latin typeface="Aptos"/>
              </a:defRPr>
            </a:pPr>
            <a:r>
              <a:t>Aggregation is descriptive: no clinical validation claim is made from these phantoms.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5F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243B5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310896"/>
            <a:ext cx="9418320" cy="41148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>
              <a:defRPr sz="2050" b="1">
                <a:solidFill>
                  <a:srgbClr val="1C2430"/>
                </a:solidFill>
                <a:latin typeface="Aptos"/>
              </a:defRPr>
            </a:pPr>
            <a:r>
              <a:t>Average Dice can hide a lesion-level failure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652760" y="384048"/>
            <a:ext cx="841248" cy="201168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r">
              <a:defRPr sz="900" b="0">
                <a:solidFill>
                  <a:srgbClr val="69717D"/>
                </a:solidFill>
                <a:latin typeface="Aptos"/>
              </a:defRPr>
            </a:pPr>
            <a:r>
              <a:t>03/05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" y="804672"/>
            <a:ext cx="10744200" cy="329184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>
              <a:defRPr sz="1210" b="1">
                <a:solidFill>
                  <a:srgbClr val="0F766E"/>
                </a:solidFill>
                <a:latin typeface="Aptos"/>
              </a:defRPr>
            </a:pPr>
            <a:r>
              <a:t>Endpoint disagreement appears under the high-shift center</a:t>
            </a:r>
          </a:p>
        </p:txBody>
      </p:sp>
      <p:pic>
        <p:nvPicPr>
          <p:cNvPr id="6" name="Picture 5" descr="slide3_endpoint_disagreemen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8368" y="1188720"/>
            <a:ext cx="10698480" cy="388620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868680" y="5340096"/>
            <a:ext cx="6949440" cy="329184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>
              <a:defRPr sz="1300" b="1">
                <a:solidFill>
                  <a:srgbClr val="1C2430"/>
                </a:solidFill>
                <a:latin typeface="Aptos"/>
              </a:defRPr>
            </a:pPr>
            <a:r>
              <a:t>Center C average Dice = 0.56, but small-lesion recall drops to 0.00.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183879" y="5266944"/>
            <a:ext cx="2788920" cy="45720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>
              <a:defRPr sz="1080" b="0">
                <a:solidFill>
                  <a:srgbClr val="69717D"/>
                </a:solidFill>
                <a:latin typeface="Aptos"/>
              </a:defRPr>
            </a:pPr>
            <a:r>
              <a:t>FP burden is lower-is-better; Dice and recall are higher-is-better.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5F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243B5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310896"/>
            <a:ext cx="9418320" cy="41148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>
              <a:defRPr sz="2050" b="1">
                <a:solidFill>
                  <a:srgbClr val="1C2430"/>
                </a:solidFill>
                <a:latin typeface="Aptos"/>
              </a:defRPr>
            </a:pPr>
            <a:r>
              <a:t>The failure is visible in the same-case overlay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652760" y="384048"/>
            <a:ext cx="841248" cy="201168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r">
              <a:defRPr sz="900" b="0">
                <a:solidFill>
                  <a:srgbClr val="69717D"/>
                </a:solidFill>
                <a:latin typeface="Aptos"/>
              </a:defRPr>
            </a:pPr>
            <a:r>
              <a:t>04/05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" y="804672"/>
            <a:ext cx="10744200" cy="329184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>
              <a:defRPr sz="1210" b="1">
                <a:solidFill>
                  <a:srgbClr val="0F766E"/>
                </a:solidFill>
                <a:latin typeface="Aptos"/>
              </a:defRPr>
            </a:pPr>
            <a:r>
              <a:t>A missed small lesion drives the negative endpoint</a:t>
            </a:r>
          </a:p>
        </p:txBody>
      </p:sp>
      <p:pic>
        <p:nvPicPr>
          <p:cNvPr id="6" name="Picture 5" descr="failure_inpu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30352" y="1353312"/>
            <a:ext cx="2487168" cy="2487168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530352" y="3931920"/>
            <a:ext cx="2487168" cy="219456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ctr">
              <a:defRPr sz="1050" b="1">
                <a:solidFill>
                  <a:srgbClr val="1C2430"/>
                </a:solidFill>
                <a:latin typeface="Aptos"/>
              </a:defRPr>
            </a:pPr>
            <a:r>
              <a:t>Input</a:t>
            </a:r>
          </a:p>
        </p:txBody>
      </p:sp>
      <p:pic>
        <p:nvPicPr>
          <p:cNvPr id="8" name="Picture 7" descr="failure_gt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401568" y="1353312"/>
            <a:ext cx="2487168" cy="2487168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3401568" y="3931920"/>
            <a:ext cx="2487168" cy="219456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ctr">
              <a:defRPr sz="1050" b="1">
                <a:solidFill>
                  <a:srgbClr val="1C2430"/>
                </a:solidFill>
                <a:latin typeface="Aptos"/>
              </a:defRPr>
            </a:pPr>
            <a:r>
              <a:t>GT lesion</a:t>
            </a:r>
          </a:p>
        </p:txBody>
      </p:sp>
      <p:pic>
        <p:nvPicPr>
          <p:cNvPr id="10" name="Picture 9" descr="failure_pr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272784" y="1353312"/>
            <a:ext cx="2487168" cy="2487168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6272784" y="3931920"/>
            <a:ext cx="2487168" cy="219456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ctr">
              <a:defRPr sz="1050" b="1">
                <a:solidFill>
                  <a:srgbClr val="1C2430"/>
                </a:solidFill>
                <a:latin typeface="Aptos"/>
              </a:defRPr>
            </a:pPr>
            <a:r>
              <a:t>Prediction</a:t>
            </a:r>
          </a:p>
        </p:txBody>
      </p:sp>
      <p:pic>
        <p:nvPicPr>
          <p:cNvPr id="12" name="Picture 11" descr="failure_error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144000" y="1353312"/>
            <a:ext cx="2487168" cy="2487168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9144000" y="3931920"/>
            <a:ext cx="2487168" cy="219456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ctr">
              <a:defRPr sz="1050" b="1">
                <a:solidFill>
                  <a:srgbClr val="1C2430"/>
                </a:solidFill>
                <a:latin typeface="Aptos"/>
              </a:defRPr>
            </a:pPr>
            <a:r>
              <a:t>TP / FP / FN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94944" y="4462272"/>
            <a:ext cx="146304" cy="146304"/>
          </a:xfrm>
          <a:prstGeom prst="rect">
            <a:avLst/>
          </a:prstGeom>
          <a:solidFill>
            <a:srgbClr val="B0473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96112" y="4443984"/>
            <a:ext cx="749808" cy="201168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>
              <a:defRPr sz="850" b="0">
                <a:solidFill>
                  <a:srgbClr val="69717D"/>
                </a:solidFill>
                <a:latin typeface="Aptos"/>
              </a:defRPr>
            </a:pPr>
            <a:r>
              <a:t>GT</a:t>
            </a:r>
          </a:p>
        </p:txBody>
      </p:sp>
      <p:sp>
        <p:nvSpPr>
          <p:cNvPr id="16" name="Rectangle 15"/>
          <p:cNvSpPr/>
          <p:nvPr/>
        </p:nvSpPr>
        <p:spPr>
          <a:xfrm>
            <a:off x="1719072" y="4462272"/>
            <a:ext cx="146304" cy="146304"/>
          </a:xfrm>
          <a:prstGeom prst="rect">
            <a:avLst/>
          </a:prstGeom>
          <a:solidFill>
            <a:srgbClr val="2A7C5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920240" y="4443984"/>
            <a:ext cx="749808" cy="201168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>
              <a:defRPr sz="850" b="0">
                <a:solidFill>
                  <a:srgbClr val="69717D"/>
                </a:solidFill>
                <a:latin typeface="Aptos"/>
              </a:defRPr>
            </a:pPr>
            <a:r>
              <a:t>Prediction / TP</a:t>
            </a:r>
          </a:p>
        </p:txBody>
      </p:sp>
      <p:sp>
        <p:nvSpPr>
          <p:cNvPr id="18" name="Rectangle 17"/>
          <p:cNvSpPr/>
          <p:nvPr/>
        </p:nvSpPr>
        <p:spPr>
          <a:xfrm>
            <a:off x="2743200" y="4462272"/>
            <a:ext cx="146304" cy="146304"/>
          </a:xfrm>
          <a:prstGeom prst="rect">
            <a:avLst/>
          </a:prstGeom>
          <a:solidFill>
            <a:srgbClr val="2F66B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2944368" y="4443984"/>
            <a:ext cx="749808" cy="201168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>
              <a:defRPr sz="850" b="0">
                <a:solidFill>
                  <a:srgbClr val="69717D"/>
                </a:solidFill>
                <a:latin typeface="Aptos"/>
              </a:defRPr>
            </a:pPr>
            <a:r>
              <a:t>FP</a:t>
            </a:r>
          </a:p>
        </p:txBody>
      </p:sp>
      <p:sp>
        <p:nvSpPr>
          <p:cNvPr id="20" name="Rectangle 19"/>
          <p:cNvSpPr/>
          <p:nvPr/>
        </p:nvSpPr>
        <p:spPr>
          <a:xfrm>
            <a:off x="3767328" y="4462272"/>
            <a:ext cx="146304" cy="146304"/>
          </a:xfrm>
          <a:prstGeom prst="rect">
            <a:avLst/>
          </a:prstGeom>
          <a:solidFill>
            <a:srgbClr val="B0473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3968496" y="4443984"/>
            <a:ext cx="749808" cy="201168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>
              <a:defRPr sz="850" b="0">
                <a:solidFill>
                  <a:srgbClr val="69717D"/>
                </a:solidFill>
                <a:latin typeface="Aptos"/>
              </a:defRPr>
            </a:pPr>
            <a:r>
              <a:t>FN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13232" y="5084064"/>
            <a:ext cx="7909560" cy="384048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>
              <a:defRPr sz="1300" b="1">
                <a:solidFill>
                  <a:srgbClr val="1C2430"/>
                </a:solidFill>
                <a:latin typeface="Aptos"/>
              </a:defRPr>
            </a:pPr>
            <a:r>
              <a:t>Case C3-03 (Center C, small lesion): Dice 0.00; lesion recall 0; FN pixels 20.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13232" y="5559552"/>
            <a:ext cx="7909560" cy="310896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>
              <a:defRPr sz="1120" b="0">
                <a:solidFill>
                  <a:srgbClr val="69717D"/>
                </a:solidFill>
                <a:latin typeface="Aptos"/>
              </a:defRPr>
            </a:pPr>
            <a:r>
              <a:t>The red FN region shows why an average overlap metric is not enough for this stress condition.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823960" y="5084064"/>
            <a:ext cx="2331720" cy="384048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>
              <a:defRPr sz="1080" b="0">
                <a:solidFill>
                  <a:srgbClr val="69717D"/>
                </a:solidFill>
                <a:latin typeface="Aptos"/>
              </a:defRPr>
            </a:pPr>
            <a:r>
              <a:t>All four panels are the same synthetic slice geometry.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5F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243B5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310896"/>
            <a:ext cx="9418320" cy="41148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>
              <a:defRPr sz="2050" b="1">
                <a:solidFill>
                  <a:srgbClr val="1C2430"/>
                </a:solidFill>
                <a:latin typeface="Aptos"/>
              </a:defRPr>
            </a:pPr>
            <a:r>
              <a:t>Validate the small-lesion shift explicitly next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652760" y="384048"/>
            <a:ext cx="841248" cy="201168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r">
              <a:defRPr sz="900" b="0">
                <a:solidFill>
                  <a:srgbClr val="69717D"/>
                </a:solidFill>
                <a:latin typeface="Aptos"/>
              </a:defRPr>
            </a:pPr>
            <a:r>
              <a:t>05/05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" y="804672"/>
            <a:ext cx="10744200" cy="329184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>
              <a:defRPr sz="1210" b="1">
                <a:solidFill>
                  <a:srgbClr val="0F766E"/>
                </a:solidFill>
                <a:latin typeface="Aptos"/>
              </a:defRPr>
            </a:pPr>
            <a:r>
              <a:t>Completed synthetic evidence motivates a planned held-out-center experiment</a:t>
            </a:r>
          </a:p>
        </p:txBody>
      </p:sp>
      <p:pic>
        <p:nvPicPr>
          <p:cNvPr id="6" name="Picture 5" descr="slide5_lesion_size_recall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8368" y="1234440"/>
            <a:ext cx="7955279" cy="393192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8887968" y="1371600"/>
            <a:ext cx="2240280" cy="27432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>
              <a:defRPr sz="1300" b="1">
                <a:solidFill>
                  <a:srgbClr val="1C2430"/>
                </a:solidFill>
                <a:latin typeface="Aptos"/>
              </a:defRPr>
            </a:pPr>
            <a:r>
              <a:t>Completed evidence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887968" y="1755648"/>
            <a:ext cx="2240280" cy="786384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>
              <a:defRPr sz="1150" b="0">
                <a:solidFill>
                  <a:srgbClr val="69717D"/>
                </a:solidFill>
                <a:latin typeface="Aptos"/>
              </a:defRPr>
            </a:pPr>
            <a:r>
              <a:t>Small lesions in the high-shift center are the supported failure regime in this deterministic phantom benchmark.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887968" y="2999232"/>
            <a:ext cx="2240280" cy="27432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>
              <a:defRPr sz="1300" b="1">
                <a:solidFill>
                  <a:srgbClr val="0F766E"/>
                </a:solidFill>
                <a:latin typeface="Aptos"/>
              </a:defRPr>
            </a:pPr>
            <a:r>
              <a:t>Planned validation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887968" y="3383280"/>
            <a:ext cx="2240280" cy="859536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>
              <a:defRPr sz="1150" b="0">
                <a:solidFill>
                  <a:srgbClr val="69717D"/>
                </a:solidFill>
                <a:latin typeface="Aptos"/>
              </a:defRPr>
            </a:pPr>
            <a:r>
              <a:t>Hold out center C, stratify by lesion size, and sweep prediction threshold/calibration before comparing methods.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887968" y="4882896"/>
            <a:ext cx="2240280" cy="420624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>
              <a:defRPr sz="1050" b="0">
                <a:solidFill>
                  <a:srgbClr val="69717D"/>
                </a:solidFill>
                <a:latin typeface="Aptos"/>
              </a:defRPr>
            </a:pPr>
            <a:r>
              <a:t>Synthetic cardiac-MR-like phantoms; not a patient validation endpoint.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