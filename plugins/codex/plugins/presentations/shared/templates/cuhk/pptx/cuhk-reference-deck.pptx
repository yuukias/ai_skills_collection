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225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8412480" y="0"/>
            <a:ext cx="3794760" cy="6858000"/>
          </a:xfrm>
          <a:prstGeom prst="rtTriangle">
            <a:avLst/>
          </a:prstGeom>
          <a:solidFill>
            <a:srgbClr val="E8E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7772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Aptos"/>
              </a:rPr>
              <a:t>Presentation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331720"/>
            <a:ext cx="6583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FFFFFF"/>
                </a:solidFill>
                <a:latin typeface="Aptos"/>
              </a:rPr>
              <a:t>Subtitle or source paper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5257800"/>
            <a:ext cx="6858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Aptos"/>
              </a:rPr>
              <a:t>Author Name
Department of Statistics and Data Science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7225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6858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FFFFFF"/>
                </a:solidFill>
                <a:latin typeface="Aptos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73152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01A2A"/>
                </a:solidFill>
                <a:latin typeface="Aptos"/>
              </a:rPr>
              <a:t>One Main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475488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201A2A"/>
                </a:solidFill>
                <a:latin typeface="Aptos"/>
              </a:rPr>
              <a:t>Use this area for the claim, context, or interpretation. Keep the slide editable and avoid using a rendered PDF page as the background.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417320"/>
            <a:ext cx="4480560" cy="3291840"/>
          </a:xfrm>
          <a:prstGeom prst="roundRect">
            <a:avLst/>
          </a:prstGeom>
          <a:solidFill>
            <a:srgbClr val="E8E0EC"/>
          </a:solidFill>
          <a:ln>
            <a:solidFill>
              <a:srgbClr val="AA7C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840" y="1874519"/>
            <a:ext cx="374903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72256D"/>
                </a:solidFill>
                <a:latin typeface="Aptos"/>
              </a:rPr>
              <a:t>Editable visual area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2606040"/>
            <a:ext cx="3657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201A2A"/>
                </a:solidFill>
                <a:latin typeface="Aptos"/>
              </a:rPr>
              <a:t>Insert charts, figures, diagrams, or equations here.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7225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6858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FFFFFF"/>
                </a:solidFill>
                <a:latin typeface="Aptos"/>
              </a:rPr>
              <a:t>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73152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01A2A"/>
                </a:solidFill>
                <a:latin typeface="Aptos"/>
              </a:rPr>
              <a:t>Research 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512064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01A2A"/>
                </a:solidFill>
                <a:latin typeface="Aptos"/>
              </a:defRPr>
            </a:pPr>
            <a:r>
              <a:t>Observed gap in the prior workflow</a:t>
            </a:r>
          </a:p>
          <a:p>
            <a:pPr>
              <a:defRPr sz="1800">
                <a:solidFill>
                  <a:srgbClr val="201A2A"/>
                </a:solidFill>
                <a:latin typeface="Aptos"/>
              </a:defRPr>
            </a:pPr>
            <a:r>
              <a:t>Primary endpoint and cohort boundary</a:t>
            </a:r>
          </a:p>
          <a:p>
            <a:pPr>
              <a:defRPr sz="1800">
                <a:solidFill>
                  <a:srgbClr val="201A2A"/>
                </a:solidFill>
                <a:latin typeface="Aptos"/>
              </a:defRPr>
            </a:pPr>
            <a:r>
              <a:t>Decision that the slide deck should support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508760"/>
            <a:ext cx="4297680" cy="2560320"/>
          </a:xfrm>
          <a:prstGeom prst="roundRect">
            <a:avLst/>
          </a:prstGeom>
          <a:solidFill>
            <a:srgbClr val="F7F0F6"/>
          </a:solidFill>
          <a:ln>
            <a:solidFill>
              <a:srgbClr val="AA7C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840" y="173736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72256D"/>
                </a:solidFill>
                <a:latin typeface="Aptos"/>
              </a:rPr>
              <a:t>Source anchor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2194560"/>
            <a:ext cx="384048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201A2A"/>
                </a:solidFill>
                <a:latin typeface="Aptos"/>
              </a:rPr>
              <a:t>Paper page, repo result, notebook cell, or figure id stays attached to the slide plan.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7225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6858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FFFFFF"/>
                </a:solidFill>
                <a:latin typeface="Aptos"/>
              </a:rPr>
              <a:t>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73152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01A2A"/>
                </a:solidFill>
                <a:latin typeface="Aptos"/>
              </a:rPr>
              <a:t>Methods Overview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2331720" cy="2377440"/>
          </a:xfrm>
          <a:prstGeom prst="roundRect">
            <a:avLst/>
          </a:prstGeom>
          <a:solidFill>
            <a:srgbClr val="F7F0F6"/>
          </a:solidFill>
          <a:ln>
            <a:solidFill>
              <a:srgbClr val="AA7C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1874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72256D"/>
                </a:solidFill>
                <a:latin typeface="Aptos"/>
              </a:rP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86000"/>
            <a:ext cx="18745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201A2A"/>
                </a:solidFill>
                <a:latin typeface="Aptos"/>
              </a:rPr>
              <a:t>Editable process block with concise evidence.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1600200"/>
            <a:ext cx="2331720" cy="2377440"/>
          </a:xfrm>
          <a:prstGeom prst="roundRect">
            <a:avLst/>
          </a:prstGeom>
          <a:solidFill>
            <a:srgbClr val="F7F0F6"/>
          </a:solidFill>
          <a:ln>
            <a:solidFill>
              <a:srgbClr val="AA7C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39" y="1828800"/>
            <a:ext cx="1874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72256D"/>
                </a:solidFill>
                <a:latin typeface="Aptos"/>
              </a:rPr>
              <a:t>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2286000"/>
            <a:ext cx="18745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201A2A"/>
                </a:solidFill>
                <a:latin typeface="Aptos"/>
              </a:rPr>
              <a:t>Editable process block with concise evidence.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1600200"/>
            <a:ext cx="2331720" cy="2377440"/>
          </a:xfrm>
          <a:prstGeom prst="roundRect">
            <a:avLst/>
          </a:prstGeom>
          <a:solidFill>
            <a:srgbClr val="F7F0F6"/>
          </a:solidFill>
          <a:ln>
            <a:solidFill>
              <a:srgbClr val="AA7C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59" y="1828800"/>
            <a:ext cx="1874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72256D"/>
                </a:solidFill>
                <a:latin typeface="Aptos"/>
              </a:rPr>
              <a:t>Validation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59" y="2286000"/>
            <a:ext cx="18745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201A2A"/>
                </a:solidFill>
                <a:latin typeface="Aptos"/>
              </a:rPr>
              <a:t>Editable process block with concise evidence.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8280" y="1600200"/>
            <a:ext cx="2331720" cy="2377440"/>
          </a:xfrm>
          <a:prstGeom prst="roundRect">
            <a:avLst/>
          </a:prstGeom>
          <a:solidFill>
            <a:srgbClr val="F7F0F6"/>
          </a:solidFill>
          <a:ln>
            <a:solidFill>
              <a:srgbClr val="AA7C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0" y="1828800"/>
            <a:ext cx="1874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72256D"/>
                </a:solidFill>
                <a:latin typeface="Aptos"/>
              </a:rPr>
              <a:t>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2286000"/>
            <a:ext cx="18745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201A2A"/>
                </a:solidFill>
                <a:latin typeface="Aptos"/>
              </a:rPr>
              <a:t>Editable process block with concise evidence.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754880"/>
            <a:ext cx="10241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201A2A"/>
                </a:solidFill>
                <a:latin typeface="Aptos"/>
              </a:rPr>
              <a:t>Use this layout for pipelines, study flow, or experiment stages.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7225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6858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FFFFFF"/>
                </a:solidFill>
                <a:latin typeface="Aptos"/>
              </a:rPr>
              <a:t>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73152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01A2A"/>
                </a:solidFill>
                <a:latin typeface="Aptos"/>
              </a:rPr>
              <a:t>Equation or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72256D"/>
                </a:solidFill>
                <a:latin typeface="Aptos"/>
              </a:rPr>
              <a:t>y = f(x; theta) + epsilon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438912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01A2A"/>
                </a:solidFill>
                <a:latin typeface="Aptos"/>
              </a:defRPr>
            </a:pPr>
            <a:r>
              <a:t>Keep equations as text when possible</a:t>
            </a:r>
          </a:p>
          <a:p>
            <a:pPr>
              <a:defRPr sz="1600">
                <a:solidFill>
                  <a:srgbClr val="201A2A"/>
                </a:solidFill>
                <a:latin typeface="Aptos"/>
              </a:defRPr>
            </a:pPr>
            <a:r>
              <a:t>Preserve notation from the source</a:t>
            </a:r>
          </a:p>
          <a:p>
            <a:pPr>
              <a:defRPr sz="1600">
                <a:solidFill>
                  <a:srgbClr val="201A2A"/>
                </a:solidFill>
                <a:latin typeface="Aptos"/>
              </a:defRPr>
            </a:pPr>
            <a:r>
              <a:t>Explain only the terms needed for the audience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7225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6858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FFFFFF"/>
                </a:solidFill>
                <a:latin typeface="Aptos"/>
              </a:rPr>
              <a:t>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73152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01A2A"/>
                </a:solidFill>
                <a:latin typeface="Aptos"/>
              </a:rPr>
              <a:t>Results Figure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17320"/>
            <a:ext cx="5486400" cy="3383280"/>
          </a:xfrm>
          <a:prstGeom prst="rect">
            <a:avLst/>
          </a:prstGeom>
          <a:solidFill>
            <a:srgbClr val="FFFFFF"/>
          </a:solidFill>
          <a:ln>
            <a:solidFill>
              <a:srgbClr val="AA7C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80160" y="3291839"/>
            <a:ext cx="502920" cy="109728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377439" y="2468879"/>
            <a:ext cx="502920" cy="1920240"/>
          </a:xfrm>
          <a:prstGeom prst="rect">
            <a:avLst/>
          </a:prstGeom>
          <a:solidFill>
            <a:srgbClr val="7225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74720" y="2834639"/>
            <a:ext cx="502920" cy="155448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0" y="1828800"/>
            <a:ext cx="502920" cy="2560320"/>
          </a:xfrm>
          <a:prstGeom prst="rect">
            <a:avLst/>
          </a:prstGeom>
          <a:solidFill>
            <a:srgbClr val="7225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766560" y="1508760"/>
            <a:ext cx="3840480" cy="2834640"/>
          </a:xfrm>
          <a:prstGeom prst="roundRect">
            <a:avLst/>
          </a:prstGeom>
          <a:solidFill>
            <a:srgbClr val="F7F0F6"/>
          </a:solidFill>
          <a:ln>
            <a:solidFill>
              <a:srgbClr val="AA7C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1737360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72256D"/>
                </a:solidFill>
                <a:latin typeface="Aptos"/>
              </a:rPr>
              <a:t>Interpretation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2194560"/>
            <a:ext cx="338328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201A2A"/>
                </a:solidFill>
                <a:latin typeface="Aptos"/>
              </a:rPr>
              <a:t>State what changed, how large it was, and what remains uncertain.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7225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6858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FFFFFF"/>
                </a:solidFill>
                <a:latin typeface="Aptos"/>
              </a:rPr>
              <a:t>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73152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01A2A"/>
                </a:solidFill>
                <a:latin typeface="Aptos"/>
              </a:rPr>
              <a:t>Comparison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08760"/>
            <a:ext cx="4663440" cy="3200400"/>
          </a:xfrm>
          <a:prstGeom prst="roundRect">
            <a:avLst/>
          </a:prstGeom>
          <a:solidFill>
            <a:srgbClr val="F7F0F6"/>
          </a:solidFill>
          <a:ln>
            <a:solidFill>
              <a:srgbClr val="AA7C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737360"/>
            <a:ext cx="4206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72256D"/>
                </a:solidFill>
                <a:latin typeface="Aptos"/>
              </a:rPr>
              <a:t>Baseline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194560"/>
            <a:ext cx="420624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201A2A"/>
                </a:solidFill>
                <a:latin typeface="Aptos"/>
              </a:rPr>
              <a:t>Strengths, limits, and key metric.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508760"/>
            <a:ext cx="4663440" cy="3200400"/>
          </a:xfrm>
          <a:prstGeom prst="roundRect">
            <a:avLst/>
          </a:prstGeom>
          <a:solidFill>
            <a:srgbClr val="F7F0F6"/>
          </a:solidFill>
          <a:ln>
            <a:solidFill>
              <a:srgbClr val="AA7C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737360"/>
            <a:ext cx="4206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72256D"/>
                </a:solidFill>
                <a:latin typeface="Aptos"/>
              </a:rPr>
              <a:t>Updated workflow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194560"/>
            <a:ext cx="420624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201A2A"/>
                </a:solidFill>
                <a:latin typeface="Aptos"/>
              </a:rPr>
              <a:t>Observed gain, tradeoff, and source anchor.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7225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6858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FFFFFF"/>
                </a:solidFill>
                <a:latin typeface="Aptos"/>
              </a:rPr>
              <a:t>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73152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01A2A"/>
                </a:solidFill>
                <a:latin typeface="Aptos"/>
              </a:rPr>
              <a:t>Table Layout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417320"/>
            <a:ext cx="2331720" cy="548640"/>
          </a:xfrm>
          <a:prstGeom prst="rect">
            <a:avLst/>
          </a:prstGeom>
          <a:solidFill>
            <a:srgbClr val="E8E0EC"/>
          </a:solidFill>
          <a:ln>
            <a:solidFill>
              <a:srgbClr val="AA7C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36192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201A2A"/>
                </a:solidFill>
                <a:latin typeface="Aptos"/>
              </a:rPr>
              <a:t>Header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417320"/>
            <a:ext cx="2331720" cy="548640"/>
          </a:xfrm>
          <a:prstGeom prst="rect">
            <a:avLst/>
          </a:prstGeom>
          <a:solidFill>
            <a:srgbClr val="E8E0EC"/>
          </a:solidFill>
          <a:ln>
            <a:solidFill>
              <a:srgbClr val="AA7C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1536192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201A2A"/>
                </a:solidFill>
                <a:latin typeface="Aptos"/>
              </a:rPr>
              <a:t>Header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0" y="1417320"/>
            <a:ext cx="2331720" cy="548640"/>
          </a:xfrm>
          <a:prstGeom prst="rect">
            <a:avLst/>
          </a:prstGeom>
          <a:solidFill>
            <a:srgbClr val="E8E0EC"/>
          </a:solidFill>
          <a:ln>
            <a:solidFill>
              <a:srgbClr val="AA7C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0" y="1536192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201A2A"/>
                </a:solidFill>
                <a:latin typeface="Aptos"/>
              </a:rPr>
              <a:t>Header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417320"/>
            <a:ext cx="2331720" cy="548640"/>
          </a:xfrm>
          <a:prstGeom prst="rect">
            <a:avLst/>
          </a:prstGeom>
          <a:solidFill>
            <a:srgbClr val="E8E0EC"/>
          </a:solidFill>
          <a:ln>
            <a:solidFill>
              <a:srgbClr val="AA7C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1536192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201A2A"/>
                </a:solidFill>
                <a:latin typeface="Aptos"/>
              </a:rPr>
              <a:t>Header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2011680"/>
            <a:ext cx="2331720" cy="548640"/>
          </a:xfrm>
          <a:prstGeom prst="rect">
            <a:avLst/>
          </a:prstGeom>
          <a:solidFill>
            <a:srgbClr val="FFFFFF"/>
          </a:solidFill>
          <a:ln>
            <a:solidFill>
              <a:srgbClr val="AA7C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2130552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201A2A"/>
                </a:solidFill>
                <a:latin typeface="Aptos"/>
              </a:rPr>
              <a:t>Value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91840" y="2011680"/>
            <a:ext cx="2331720" cy="548640"/>
          </a:xfrm>
          <a:prstGeom prst="rect">
            <a:avLst/>
          </a:prstGeom>
          <a:solidFill>
            <a:srgbClr val="FFFFFF"/>
          </a:solidFill>
          <a:ln>
            <a:solidFill>
              <a:srgbClr val="AA7C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83280" y="2130552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201A2A"/>
                </a:solidFill>
                <a:latin typeface="Aptos"/>
              </a:rPr>
              <a:t>Value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0" y="2011680"/>
            <a:ext cx="2331720" cy="548640"/>
          </a:xfrm>
          <a:prstGeom prst="rect">
            <a:avLst/>
          </a:prstGeom>
          <a:solidFill>
            <a:srgbClr val="FFFFFF"/>
          </a:solidFill>
          <a:ln>
            <a:solidFill>
              <a:srgbClr val="AA7C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0" y="2130552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201A2A"/>
                </a:solidFill>
                <a:latin typeface="Aptos"/>
              </a:rPr>
              <a:t>Value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2011680"/>
            <a:ext cx="2331720" cy="548640"/>
          </a:xfrm>
          <a:prstGeom prst="rect">
            <a:avLst/>
          </a:prstGeom>
          <a:solidFill>
            <a:srgbClr val="FFFFFF"/>
          </a:solidFill>
          <a:ln>
            <a:solidFill>
              <a:srgbClr val="AA7C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0" y="2130552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201A2A"/>
                </a:solidFill>
                <a:latin typeface="Aptos"/>
              </a:rPr>
              <a:t>Value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2606040"/>
            <a:ext cx="2331720" cy="548640"/>
          </a:xfrm>
          <a:prstGeom prst="rect">
            <a:avLst/>
          </a:prstGeom>
          <a:solidFill>
            <a:srgbClr val="FFFFFF"/>
          </a:solidFill>
          <a:ln>
            <a:solidFill>
              <a:srgbClr val="AA7C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2724912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201A2A"/>
                </a:solidFill>
                <a:latin typeface="Aptos"/>
              </a:rPr>
              <a:t>Value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91840" y="2606040"/>
            <a:ext cx="2331720" cy="548640"/>
          </a:xfrm>
          <a:prstGeom prst="rect">
            <a:avLst/>
          </a:prstGeom>
          <a:solidFill>
            <a:srgbClr val="FFFFFF"/>
          </a:solidFill>
          <a:ln>
            <a:solidFill>
              <a:srgbClr val="AA7C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83280" y="2724912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201A2A"/>
                </a:solidFill>
                <a:latin typeface="Aptos"/>
              </a:rPr>
              <a:t>Value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0" y="2606040"/>
            <a:ext cx="2331720" cy="548640"/>
          </a:xfrm>
          <a:prstGeom prst="rect">
            <a:avLst/>
          </a:prstGeom>
          <a:solidFill>
            <a:srgbClr val="FFFFFF"/>
          </a:solidFill>
          <a:ln>
            <a:solidFill>
              <a:srgbClr val="AA7C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60720" y="2724912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201A2A"/>
                </a:solidFill>
                <a:latin typeface="Aptos"/>
              </a:rPr>
              <a:t>Value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46720" y="2606040"/>
            <a:ext cx="2331720" cy="548640"/>
          </a:xfrm>
          <a:prstGeom prst="rect">
            <a:avLst/>
          </a:prstGeom>
          <a:solidFill>
            <a:srgbClr val="FFFFFF"/>
          </a:solidFill>
          <a:ln>
            <a:solidFill>
              <a:srgbClr val="AA7C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38160" y="2724912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201A2A"/>
                </a:solidFill>
                <a:latin typeface="Aptos"/>
              </a:rPr>
              <a:t>Value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" y="3200400"/>
            <a:ext cx="2331720" cy="548640"/>
          </a:xfrm>
          <a:prstGeom prst="rect">
            <a:avLst/>
          </a:prstGeom>
          <a:solidFill>
            <a:srgbClr val="FFFFFF"/>
          </a:solidFill>
          <a:ln>
            <a:solidFill>
              <a:srgbClr val="AA7C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3319272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201A2A"/>
                </a:solidFill>
                <a:latin typeface="Aptos"/>
              </a:rPr>
              <a:t>Value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91840" y="3200400"/>
            <a:ext cx="2331720" cy="548640"/>
          </a:xfrm>
          <a:prstGeom prst="rect">
            <a:avLst/>
          </a:prstGeom>
          <a:solidFill>
            <a:srgbClr val="FFFFFF"/>
          </a:solidFill>
          <a:ln>
            <a:solidFill>
              <a:srgbClr val="AA7C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83280" y="3319272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201A2A"/>
                </a:solidFill>
                <a:latin typeface="Aptos"/>
              </a:rPr>
              <a:t>Value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0" y="3200400"/>
            <a:ext cx="2331720" cy="548640"/>
          </a:xfrm>
          <a:prstGeom prst="rect">
            <a:avLst/>
          </a:prstGeom>
          <a:solidFill>
            <a:srgbClr val="FFFFFF"/>
          </a:solidFill>
          <a:ln>
            <a:solidFill>
              <a:srgbClr val="AA7C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60720" y="3319272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201A2A"/>
                </a:solidFill>
                <a:latin typeface="Aptos"/>
              </a:rPr>
              <a:t>Value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46720" y="3200400"/>
            <a:ext cx="2331720" cy="548640"/>
          </a:xfrm>
          <a:prstGeom prst="rect">
            <a:avLst/>
          </a:prstGeom>
          <a:solidFill>
            <a:srgbClr val="FFFFFF"/>
          </a:solidFill>
          <a:ln>
            <a:solidFill>
              <a:srgbClr val="AA7C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38160" y="3319272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201A2A"/>
                </a:solidFill>
                <a:latin typeface="Aptos"/>
              </a:rPr>
              <a:t>Value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7225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6858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FFFFFF"/>
                </a:solidFill>
                <a:latin typeface="Aptos"/>
              </a:rPr>
              <a:t>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73152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FFFFFF"/>
                </a:solidFill>
                <a:latin typeface="Aptos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01A2A"/>
                </a:solidFill>
                <a:latin typeface="Aptos"/>
              </a:rPr>
              <a:t>Limitations and Next Step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493776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01A2A"/>
                </a:solidFill>
                <a:latin typeface="Aptos"/>
              </a:defRPr>
            </a:pPr>
            <a:r>
              <a:t>What the evidence does not show</a:t>
            </a:r>
          </a:p>
          <a:p>
            <a:pPr>
              <a:defRPr sz="1800">
                <a:solidFill>
                  <a:srgbClr val="201A2A"/>
                </a:solidFill>
                <a:latin typeface="Aptos"/>
              </a:defRPr>
            </a:pPr>
            <a:r>
              <a:t>Operational risk or missing validation</a:t>
            </a:r>
          </a:p>
          <a:p>
            <a:pPr>
              <a:defRPr sz="1800">
                <a:solidFill>
                  <a:srgbClr val="201A2A"/>
                </a:solidFill>
                <a:latin typeface="Aptos"/>
              </a:defRPr>
            </a:pPr>
            <a:r>
              <a:t>Decision, owner, and next artifact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508760"/>
            <a:ext cx="4114800" cy="2926080"/>
          </a:xfrm>
          <a:prstGeom prst="roundRect">
            <a:avLst/>
          </a:prstGeom>
          <a:solidFill>
            <a:srgbClr val="F7F0F6"/>
          </a:solidFill>
          <a:ln>
            <a:solidFill>
              <a:srgbClr val="AA7C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12280" y="17373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72256D"/>
                </a:solidFill>
                <a:latin typeface="Aptos"/>
              </a:rPr>
              <a:t>Decision prompt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2280" y="2194560"/>
            <a:ext cx="36576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201A2A"/>
                </a:solidFill>
                <a:latin typeface="Aptos"/>
              </a:rPr>
              <a:t>The audience should know what response is needed.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7225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6858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FFFFFF"/>
                </a:solidFill>
                <a:latin typeface="Aptos"/>
              </a:rP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73152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01A2A"/>
                </a:solidFill>
                <a:latin typeface="Aptos"/>
              </a:rPr>
              <a:t>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987552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01A2A"/>
                </a:solidFill>
                <a:latin typeface="Aptos"/>
              </a:defRPr>
            </a:pPr>
            <a:r>
              <a:t>[1] Source paper or dataset</a:t>
            </a:r>
          </a:p>
          <a:p>
            <a:pPr>
              <a:defRPr sz="1500">
                <a:solidFill>
                  <a:srgbClr val="201A2A"/>
                </a:solidFill>
                <a:latin typeface="Aptos"/>
              </a:defRPr>
            </a:pPr>
            <a:r>
              <a:t>[2] Repository result artifact</a:t>
            </a:r>
          </a:p>
          <a:p>
            <a:pPr>
              <a:defRPr sz="1500">
                <a:solidFill>
                  <a:srgbClr val="201A2A"/>
                </a:solidFill>
                <a:latin typeface="Aptos"/>
              </a:defRPr>
            </a:pPr>
            <a:r>
              <a:t>[3] Review note or issue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7225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6858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FFFFFF"/>
                </a:solidFill>
                <a:latin typeface="Aptos"/>
              </a:rPr>
              <a:t>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73152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FFFFFF"/>
                </a:solidFill>
                <a:latin typeface="Aptos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01A2A"/>
                </a:solidFill>
                <a:latin typeface="Aptos"/>
              </a:rPr>
              <a:t>Backup Detail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95097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201A2A"/>
                </a:solidFill>
                <a:latin typeface="Aptos"/>
              </a:rPr>
              <a:t>Use backup slides for sensitivity analysis, extra tables, or reproducibility details that should not interrupt the main talk.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7225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6858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FFFFFF"/>
                </a:solidFill>
                <a:latin typeface="Aptos"/>
              </a:rPr>
              <a:t>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73152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FFFFFF"/>
                </a:solidFill>
                <a:latin typeface="Aptos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01A2A"/>
                </a:solidFill>
                <a:latin typeface="Aptos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72256D"/>
                </a:solidFill>
                <a:latin typeface="Aptos"/>
              </a:rPr>
              <a:t>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0632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201A2A"/>
                </a:solidFill>
                <a:latin typeface="Aptos"/>
              </a:rPr>
              <a:t>Questions, next decisions, or contact information.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